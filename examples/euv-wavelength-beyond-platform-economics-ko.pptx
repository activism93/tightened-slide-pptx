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161ea0fb664236" /><Relationship Type="http://schemas.openxmlformats.org/officeDocument/2006/relationships/extended-properties" Target="/docProps/app.xml" Id="Ra6d53ea3a85f48dd" /><Relationship Type="http://schemas.openxmlformats.org/officeDocument/2006/relationships/officeDocument" Target="/ppt/presentation.xml" Id="Rf5291abc1be04c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814af761a44fac"/>
  </p:sldMasterIdLst>
  <p:notesMasterIdLst>
    <p:notesMasterId xmlns:r="http://schemas.openxmlformats.org/officeDocument/2006/relationships" r:id="R3813d3acd8344643"/>
  </p:notesMasterIdLst>
  <p:sldIdLst>
    <p:sldId xmlns:r="http://schemas.openxmlformats.org/officeDocument/2006/relationships" id="256" r:id="R78edd56b5d954de4"/>
    <p:sldId xmlns:r="http://schemas.openxmlformats.org/officeDocument/2006/relationships" id="257" r:id="Rc9531bb21b354747"/>
    <p:sldId xmlns:r="http://schemas.openxmlformats.org/officeDocument/2006/relationships" id="258" r:id="R19b56a12b5784b4a"/>
    <p:sldId xmlns:r="http://schemas.openxmlformats.org/officeDocument/2006/relationships" id="259" r:id="R4fa93de7fa3346f5"/>
    <p:sldId xmlns:r="http://schemas.openxmlformats.org/officeDocument/2006/relationships" id="260" r:id="R0cf68980536a4eb0"/>
    <p:sldId xmlns:r="http://schemas.openxmlformats.org/officeDocument/2006/relationships" id="261" r:id="Ra4e7ef1a40104531"/>
    <p:sldId xmlns:r="http://schemas.openxmlformats.org/officeDocument/2006/relationships" id="262" r:id="R6c52b8fea4c04dcf"/>
    <p:sldId xmlns:r="http://schemas.openxmlformats.org/officeDocument/2006/relationships" id="263" r:id="Re1c1499a7ae243db"/>
    <p:sldId xmlns:r="http://schemas.openxmlformats.org/officeDocument/2006/relationships" id="264" r:id="R5ad1edd3770044dc"/>
    <p:sldId xmlns:r="http://schemas.openxmlformats.org/officeDocument/2006/relationships" id="265" r:id="R83b5e63fa06448ac"/>
    <p:sldId xmlns:r="http://schemas.openxmlformats.org/officeDocument/2006/relationships" id="266" r:id="R80ecd4c3ee39484f"/>
    <p:sldId xmlns:r="http://schemas.openxmlformats.org/officeDocument/2006/relationships" id="267" r:id="R0e5156535f994d55"/>
    <p:sldId xmlns:r="http://schemas.openxmlformats.org/officeDocument/2006/relationships" id="268" r:id="Rf155161eb3ae4a6b"/>
    <p:sldId xmlns:r="http://schemas.openxmlformats.org/officeDocument/2006/relationships" id="269" r:id="R019a771237564630"/>
    <p:sldId xmlns:r="http://schemas.openxmlformats.org/officeDocument/2006/relationships" id="270" r:id="R5949f92232834e79"/>
    <p:sldId xmlns:r="http://schemas.openxmlformats.org/officeDocument/2006/relationships" id="271" r:id="R6d8d4af94f384a6f"/>
    <p:sldId xmlns:r="http://schemas.openxmlformats.org/officeDocument/2006/relationships" id="272" r:id="R20078f842e044f29"/>
    <p:sldId xmlns:r="http://schemas.openxmlformats.org/officeDocument/2006/relationships" id="273" r:id="Rc950c9a973da446b"/>
    <p:sldId xmlns:r="http://schemas.openxmlformats.org/officeDocument/2006/relationships" id="274" r:id="Rbae6665b5a98467d"/>
    <p:sldId xmlns:r="http://schemas.openxmlformats.org/officeDocument/2006/relationships" id="275" r:id="R083c3569ba1e44d1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f46d7e9d9946a6" /><Relationship Type="http://schemas.openxmlformats.org/officeDocument/2006/relationships/slideMaster" Target="/ppt/slideMasters/slideMaster1.xml" Id="Ra4814af761a44fac" /><Relationship Type="http://schemas.openxmlformats.org/officeDocument/2006/relationships/notesMaster" Target="/ppt/notesMasters/notesMaster1.xml" Id="R3813d3acd8344643" /><Relationship Type="http://schemas.openxmlformats.org/officeDocument/2006/relationships/presProps" Target="/ppt/presProps.xml" Id="R3e7e6372643d41c2" /><Relationship Type="http://schemas.openxmlformats.org/officeDocument/2006/relationships/tableStyles" Target="/ppt/tableStyles.xml" Id="R1cb4d6bd00914bcf" /><Relationship Type="http://schemas.openxmlformats.org/officeDocument/2006/relationships/slide" Target="/ppt/slides/slide1.xml" Id="R78edd56b5d954de4" /><Relationship Type="http://schemas.openxmlformats.org/officeDocument/2006/relationships/slide" Target="/ppt/slides/slide2.xml" Id="Rc9531bb21b354747" /><Relationship Type="http://schemas.openxmlformats.org/officeDocument/2006/relationships/slide" Target="/ppt/slides/slide3.xml" Id="R19b56a12b5784b4a" /><Relationship Type="http://schemas.openxmlformats.org/officeDocument/2006/relationships/slide" Target="/ppt/slides/slide4.xml" Id="R4fa93de7fa3346f5" /><Relationship Type="http://schemas.openxmlformats.org/officeDocument/2006/relationships/slide" Target="/ppt/slides/slide5.xml" Id="R0cf68980536a4eb0" /><Relationship Type="http://schemas.openxmlformats.org/officeDocument/2006/relationships/slide" Target="/ppt/slides/slide6.xml" Id="Ra4e7ef1a40104531" /><Relationship Type="http://schemas.openxmlformats.org/officeDocument/2006/relationships/slide" Target="/ppt/slides/slide7.xml" Id="R6c52b8fea4c04dcf" /><Relationship Type="http://schemas.openxmlformats.org/officeDocument/2006/relationships/slide" Target="/ppt/slides/slide8.xml" Id="Re1c1499a7ae243db" /><Relationship Type="http://schemas.openxmlformats.org/officeDocument/2006/relationships/slide" Target="/ppt/slides/slide9.xml" Id="R5ad1edd3770044dc" /><Relationship Type="http://schemas.openxmlformats.org/officeDocument/2006/relationships/slide" Target="/ppt/slides/slide10.xml" Id="R83b5e63fa06448ac" /><Relationship Type="http://schemas.openxmlformats.org/officeDocument/2006/relationships/slide" Target="/ppt/slides/slide11.xml" Id="R80ecd4c3ee39484f" /><Relationship Type="http://schemas.openxmlformats.org/officeDocument/2006/relationships/slide" Target="/ppt/slides/slide12.xml" Id="R0e5156535f994d55" /><Relationship Type="http://schemas.openxmlformats.org/officeDocument/2006/relationships/slide" Target="/ppt/slides/slide13.xml" Id="Rf155161eb3ae4a6b" /><Relationship Type="http://schemas.openxmlformats.org/officeDocument/2006/relationships/slide" Target="/ppt/slides/slide14.xml" Id="R019a771237564630" /><Relationship Type="http://schemas.openxmlformats.org/officeDocument/2006/relationships/slide" Target="/ppt/slides/slide15.xml" Id="R5949f92232834e79" /><Relationship Type="http://schemas.openxmlformats.org/officeDocument/2006/relationships/slide" Target="/ppt/slides/slide16.xml" Id="R6d8d4af94f384a6f" /><Relationship Type="http://schemas.openxmlformats.org/officeDocument/2006/relationships/slide" Target="/ppt/slides/slide17.xml" Id="R20078f842e044f29" /><Relationship Type="http://schemas.openxmlformats.org/officeDocument/2006/relationships/slide" Target="/ppt/slides/slide18.xml" Id="Rc950c9a973da446b" /><Relationship Type="http://schemas.openxmlformats.org/officeDocument/2006/relationships/slide" Target="/ppt/slides/slide19.xml" Id="Rbae6665b5a98467d" /><Relationship Type="http://schemas.openxmlformats.org/officeDocument/2006/relationships/slide" Target="/ppt/slides/slide20.xml" Id="R083c3569ba1e44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b87960b0e34b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bdf095d2c44797" /><Relationship Type="http://schemas.openxmlformats.org/officeDocument/2006/relationships/notesMaster" Target="/ppt/notesMasters/notesMaster1.xml" Id="R55d7a400c1054f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f21dee48944e58" /><Relationship Type="http://schemas.openxmlformats.org/officeDocument/2006/relationships/notesMaster" Target="/ppt/notesMasters/notesMaster1.xml" Id="R928d76284aa549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840ed1758b4565" /><Relationship Type="http://schemas.openxmlformats.org/officeDocument/2006/relationships/notesMaster" Target="/ppt/notesMasters/notesMaster1.xml" Id="Re58a9d4cf29048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8711fae4cc45d7" /><Relationship Type="http://schemas.openxmlformats.org/officeDocument/2006/relationships/notesMaster" Target="/ppt/notesMasters/notesMaster1.xml" Id="R8e9b69f4443949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4bd5bf8272465d" /><Relationship Type="http://schemas.openxmlformats.org/officeDocument/2006/relationships/notesMaster" Target="/ppt/notesMasters/notesMaster1.xml" Id="Rb95b2380d8be47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1902f56bff461a" /><Relationship Type="http://schemas.openxmlformats.org/officeDocument/2006/relationships/notesMaster" Target="/ppt/notesMasters/notesMaster1.xml" Id="Rf37d059771244b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1e71504b4c42f1" /><Relationship Type="http://schemas.openxmlformats.org/officeDocument/2006/relationships/notesMaster" Target="/ppt/notesMasters/notesMaster1.xml" Id="R40719f497fec4e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dc06929e6a48b3" /><Relationship Type="http://schemas.openxmlformats.org/officeDocument/2006/relationships/notesMaster" Target="/ppt/notesMasters/notesMaster1.xml" Id="R9a059a0c3abe42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9e896fdfbe4cee" /><Relationship Type="http://schemas.openxmlformats.org/officeDocument/2006/relationships/notesMaster" Target="/ppt/notesMasters/notesMaster1.xml" Id="R244ed0a0d63f4c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6bc5bc1c601403b" /><Relationship Type="http://schemas.openxmlformats.org/officeDocument/2006/relationships/notesMaster" Target="/ppt/notesMasters/notesMaster1.xml" Id="Rd61f95e720b24ac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0a9b66d0b624ad2" /><Relationship Type="http://schemas.openxmlformats.org/officeDocument/2006/relationships/notesMaster" Target="/ppt/notesMasters/notesMaster1.xml" Id="R64de2761f550471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eea00e6697049b4" /><Relationship Type="http://schemas.openxmlformats.org/officeDocument/2006/relationships/notesMaster" Target="/ppt/notesMasters/notesMaster1.xml" Id="R5dd6c695a0824c6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f2d5547f8364fc8" /><Relationship Type="http://schemas.openxmlformats.org/officeDocument/2006/relationships/notesMaster" Target="/ppt/notesMasters/notesMaster1.xml" Id="R49ffa074d4b5436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0abe06b249b4d90" /><Relationship Type="http://schemas.openxmlformats.org/officeDocument/2006/relationships/notesMaster" Target="/ppt/notesMasters/notesMaster1.xml" Id="R97142f10447241b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a7fff3eef4e4825" /><Relationship Type="http://schemas.openxmlformats.org/officeDocument/2006/relationships/notesMaster" Target="/ppt/notesMasters/notesMaster1.xml" Id="R740b7145659e489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cf07eef7021430f" /><Relationship Type="http://schemas.openxmlformats.org/officeDocument/2006/relationships/notesMaster" Target="/ppt/notesMasters/notesMaster1.xml" Id="R5d36c532e17c484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764a04524f14fcc" /><Relationship Type="http://schemas.openxmlformats.org/officeDocument/2006/relationships/notesMaster" Target="/ppt/notesMasters/notesMaster1.xml" Id="Re8136bd06f4d438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d8c5085d7cd4b09" /><Relationship Type="http://schemas.openxmlformats.org/officeDocument/2006/relationships/notesMaster" Target="/ppt/notesMasters/notesMaster1.xml" Id="R202f4fb570a1466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079efbabeb54cf8" /><Relationship Type="http://schemas.openxmlformats.org/officeDocument/2006/relationships/notesMaster" Target="/ppt/notesMasters/notesMaster1.xml" Id="R1f828bddc3d9485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04e388843b44a5d" /><Relationship Type="http://schemas.openxmlformats.org/officeDocument/2006/relationships/notesMaster" Target="/ppt/notesMasters/notesMaster1.xml" Id="R6445c0e24e9344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https://www.asml.com/en/technology/lithography-principles/rayleigh-criterion</a:t>
            </a:r>
          </a:p>
          <a:p xmlns:a="http://schemas.openxmlformats.org/drawingml/2006/main">
            <a:r>
              <a:t>- https://www.asml.com/en/products/euv-lithography-systems</a:t>
            </a:r>
          </a:p>
          <a:p xmlns:a="http://schemas.openxmlformats.org/drawingml/2006/main">
            <a:r>
              <a:t>- All visible text and diagrams are native editable PowerPoint objects; no full-slide raster image is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https://www.tel.com/museum/exhibition/process/process2.html?page=2</a:t>
            </a:r>
          </a:p>
          <a:p xmlns:a="http://schemas.openxmlformats.org/drawingml/2006/main">
            <a:r>
              <a:t>- https://www.asml.com/en/technology/all-about-microchips/how-microchips-are-made</a:t>
            </a:r>
          </a:p>
          <a:p xmlns:a="http://schemas.openxmlformats.org/drawingml/2006/main">
            <a:r>
              <a:t>- All visible text and diagrams are native editable PowerPoint objects; no full-slide raster image is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https://www.asml.com/en/technology/lithography-principles/rayleigh-criterion</a:t>
            </a:r>
          </a:p>
          <a:p xmlns:a="http://schemas.openxmlformats.org/drawingml/2006/main">
            <a:r>
              <a:t>- All visible text and diagrams are native editable PowerPoint objects; no full-slide raster image is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https://www.asml.com/en/technology/lithography-principles/pushing-k1-further</a:t>
            </a:r>
          </a:p>
          <a:p xmlns:a="http://schemas.openxmlformats.org/drawingml/2006/main">
            <a:r>
              <a:t>- https://www.asml.com/en/products/computational-lithography</a:t>
            </a:r>
          </a:p>
          <a:p xmlns:a="http://schemas.openxmlformats.org/drawingml/2006/main">
            <a:r>
              <a:t>- All visible text and diagrams are native editable PowerPoint objects; no full-slide raster image is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https://www.asml.com/technology/lithography-principles/lenses-and-mirrors</a:t>
            </a:r>
          </a:p>
          <a:p xmlns:a="http://schemas.openxmlformats.org/drawingml/2006/main">
            <a:r>
              <a:t>- https://www.asml.com/en/technology/lithography-principles/light-and-lasers</a:t>
            </a:r>
          </a:p>
          <a:p xmlns:a="http://schemas.openxmlformats.org/drawingml/2006/main">
            <a:r>
              <a:t>- https://www.asml.com/en/products/duv-lithography-systems/twinscan-nxt2000i</a:t>
            </a:r>
          </a:p>
          <a:p xmlns:a="http://schemas.openxmlformats.org/drawingml/2006/main">
            <a:r>
              <a:t>- https://www.asml.com/en/en/products/duv-lithography-systems/twinscan-nxt2050i</a:t>
            </a:r>
          </a:p>
          <a:p xmlns:a="http://schemas.openxmlformats.org/drawingml/2006/main">
            <a:r>
              <a:t>- All visible text and diagrams are native editable PowerPoint objects; no full-slide raster image is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https://www.asml.com/en/en/products/duv-lithography-systems/twinscan-nxt2050i</a:t>
            </a:r>
          </a:p>
          <a:p xmlns:a="http://schemas.openxmlformats.org/drawingml/2006/main">
            <a:r>
              <a:t>- https://www.asml.com/en/products/euv-lithography-systems/twinscan-nxe3400c</a:t>
            </a:r>
          </a:p>
          <a:p xmlns:a="http://schemas.openxmlformats.org/drawingml/2006/main">
            <a:r>
              <a:t>- https://www.asml.com/products/euv-lithography-systems/twinscan-exe-5200b</a:t>
            </a:r>
          </a:p>
          <a:p xmlns:a="http://schemas.openxmlformats.org/drawingml/2006/main">
            <a:r>
              <a:t>- All visible text and diagrams are native editable PowerPoint objects; no full-slide raster image is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https://doi.org/10.1117/12.772905</a:t>
            </a:r>
          </a:p>
          <a:p xmlns:a="http://schemas.openxmlformats.org/drawingml/2006/main">
            <a:r>
              <a:t>- https://www.imec-int.com/en/imec-magazine/imec-magazine-march-2017/first-euv-lithography-high-volume-manufacturing-solution-for-n5-beol</a:t>
            </a:r>
          </a:p>
          <a:p xmlns:a="http://schemas.openxmlformats.org/drawingml/2006/main">
            <a:r>
              <a:t>- All visible text and diagrams are native editable PowerPoint objects; no full-slide raster image is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https://www.asml.com/technology/lithography-principles/lenses-and-mirrors</a:t>
            </a:r>
          </a:p>
          <a:p xmlns:a="http://schemas.openxmlformats.org/drawingml/2006/main">
            <a:r>
              <a:t>- https://pmc.ncbi.nlm.nih.gov/articles/PMC9049984/</a:t>
            </a:r>
          </a:p>
          <a:p xmlns:a="http://schemas.openxmlformats.org/drawingml/2006/main">
            <a:r>
              <a:t>- All visible text and diagrams are native editable PowerPoint objects; no full-slide raster image is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https://www.asml.com/en/products/euv-lithography-systems</a:t>
            </a:r>
          </a:p>
          <a:p xmlns:a="http://schemas.openxmlformats.org/drawingml/2006/main">
            <a:r>
              <a:t>- https://www.asml.com/technology/lithography-principles/lenses-and-mirrors</a:t>
            </a:r>
          </a:p>
          <a:p xmlns:a="http://schemas.openxmlformats.org/drawingml/2006/main">
            <a:r>
              <a:t>- https://www.imec-int.com/en/articles/high-na-euvl-next-major-step-lithography</a:t>
            </a:r>
          </a:p>
          <a:p xmlns:a="http://schemas.openxmlformats.org/drawingml/2006/main">
            <a:r>
              <a:t>- All visible text and diagrams are native editable PowerPoint objects; no full-slide raster image is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https://doi.org/10.1117/12.309600</a:t>
            </a:r>
          </a:p>
          <a:p xmlns:a="http://schemas.openxmlformats.org/drawingml/2006/main">
            <a:r>
              <a:t>- https://www.osti.gov/servlets/purl/310916</a:t>
            </a:r>
          </a:p>
          <a:p xmlns:a="http://schemas.openxmlformats.org/drawingml/2006/main">
            <a:r>
              <a:t>- https://www.imec-int.com/en/articles/high-na-euvl-next-major-step-lithography</a:t>
            </a:r>
          </a:p>
          <a:p xmlns:a="http://schemas.openxmlformats.org/drawingml/2006/main">
            <a:r>
              <a:t>- All visible text and diagrams are native editable PowerPoint objects; no full-slide raster image is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https://doi.org/10.1364/AO.20.003027</a:t>
            </a:r>
          </a:p>
          <a:p xmlns:a="http://schemas.openxmlformats.org/drawingml/2006/main">
            <a:r>
              <a:t>- https://doi.org/10.1117/12.309600</a:t>
            </a:r>
          </a:p>
          <a:p xmlns:a="http://schemas.openxmlformats.org/drawingml/2006/main">
            <a:r>
              <a:t>- https://www.osti.gov/servlets/purl/310916</a:t>
            </a:r>
          </a:p>
          <a:p xmlns:a="http://schemas.openxmlformats.org/drawingml/2006/main">
            <a:r>
              <a:t>- All visible text and diagrams are native editable PowerPoint objects; no full-slide raster image is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https://doi.org/10.1063/1.1654189</a:t>
            </a:r>
          </a:p>
          <a:p xmlns:a="http://schemas.openxmlformats.org/drawingml/2006/main">
            <a:r>
              <a:t>- https://doi.org/10.1063/1.91759</a:t>
            </a:r>
          </a:p>
          <a:p xmlns:a="http://schemas.openxmlformats.org/drawingml/2006/main">
            <a:r>
              <a:t>- https://doi.org/10.1364/AO.20.003027</a:t>
            </a:r>
          </a:p>
          <a:p xmlns:a="http://schemas.openxmlformats.org/drawingml/2006/main">
            <a:r>
              <a:t>- https://doi.org/10.1117/12.309600</a:t>
            </a:r>
          </a:p>
          <a:p xmlns:a="http://schemas.openxmlformats.org/drawingml/2006/main">
            <a:r>
              <a:t>- https://doi.org/10.1117/12.450946</a:t>
            </a:r>
          </a:p>
          <a:p xmlns:a="http://schemas.openxmlformats.org/drawingml/2006/main">
            <a:r>
              <a:t>- https://www.osti.gov/biblio/802924</a:t>
            </a:r>
          </a:p>
          <a:p xmlns:a="http://schemas.openxmlformats.org/drawingml/2006/main">
            <a:r>
              <a:t>- 1972는 현대 EUV lithography용 Mo/Si mirror 완성 시점이 아니라 low-loss multilayer-like reflection design principle의 역사적 선행으로 서술함.</a:t>
            </a:r>
          </a:p>
          <a:p xmlns:a="http://schemas.openxmlformats.org/drawingml/2006/main">
            <a:r>
              <a:t>- All visible text and diagrams are native editable PowerPoint objects; no full-slide raster image is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https://doi.org/10.1088/2040-8986/ac5a7e</a:t>
            </a:r>
          </a:p>
          <a:p xmlns:a="http://schemas.openxmlformats.org/drawingml/2006/main">
            <a:r>
              <a:t>- https://doi.org/10.1117/1.JMM.11.2.021111</a:t>
            </a:r>
          </a:p>
          <a:p xmlns:a="http://schemas.openxmlformats.org/drawingml/2006/main">
            <a:r>
              <a:t>- https://doi.org/10.1063/5.0200896</a:t>
            </a:r>
          </a:p>
          <a:p xmlns:a="http://schemas.openxmlformats.org/drawingml/2006/main">
            <a:r>
              <a:t>- https://www.imec-int.com/en/articles/high-na-euvl-next-major-step-lithography</a:t>
            </a:r>
          </a:p>
          <a:p xmlns:a="http://schemas.openxmlformats.org/drawingml/2006/main">
            <a:r>
              <a:t>- All visible text and diagrams are native editable PowerPoint objects; no full-slide raster image is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https://www.asml.com/en/technology/lithography-principles/light-and-lasers</a:t>
            </a:r>
          </a:p>
          <a:p xmlns:a="http://schemas.openxmlformats.org/drawingml/2006/main">
            <a:r>
              <a:t>- All visible text and diagrams are native editable PowerPoint objects; no full-slide raster image is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https://www.asml.com/en/investors/annual-report/2025/strategy-and-stories</a:t>
            </a:r>
          </a:p>
          <a:p xmlns:a="http://schemas.openxmlformats.org/drawingml/2006/main">
            <a:r>
              <a:t>- https://www.asml.com/en/technology/lithography-principles/light-and-lasers</a:t>
            </a:r>
          </a:p>
          <a:p xmlns:a="http://schemas.openxmlformats.org/drawingml/2006/main">
            <a:r>
              <a:t>- 1000 W는 2025년 4월 demonstration context이며 commercial HVM source로 단정하지 않음. Triple-pulse architecture는 이 슬라이드에서 사용하지 않음.</a:t>
            </a:r>
          </a:p>
          <a:p xmlns:a="http://schemas.openxmlformats.org/drawingml/2006/main">
            <a:r>
              <a:t>- All visible text and diagrams are native editable PowerPoint objects; no full-slide raster image is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https://www.asml.com/en/products/euv-lithography-systems/twinscan-nxe3400c</a:t>
            </a:r>
          </a:p>
          <a:p xmlns:a="http://schemas.openxmlformats.org/drawingml/2006/main">
            <a:r>
              <a:t>- https://www.asml.com/products/euv-lithography-systems/twinscan-exe-5200b</a:t>
            </a:r>
          </a:p>
          <a:p xmlns:a="http://schemas.openxmlformats.org/drawingml/2006/main">
            <a:r>
              <a:t>- https://www.asml.com/en/company/stories/2024/5-things-high-na-euv</a:t>
            </a:r>
          </a:p>
          <a:p xmlns:a="http://schemas.openxmlformats.org/drawingml/2006/main">
            <a:r>
              <a:t>- Single exposure는 critical pattern을 multiple lithography decomposition으로 나누지 않고 한 번의 exposure에서 구현하는 resolution capability라는 의미로 사용함.</a:t>
            </a:r>
          </a:p>
          <a:p xmlns:a="http://schemas.openxmlformats.org/drawingml/2006/main">
            <a:r>
              <a:t>- All visible text and diagrams are native editable PowerPoint objects; no full-slide raster image is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https://www.asml.com/en/company/stories/2024/5-things-high-na-euv</a:t>
            </a:r>
          </a:p>
          <a:p xmlns:a="http://schemas.openxmlformats.org/drawingml/2006/main">
            <a:r>
              <a:t>- https://www.zeiss.com/semiconductor-manufacturing-technology/inspiring-technology/high-na-euv-lithography.html</a:t>
            </a:r>
          </a:p>
          <a:p xmlns:a="http://schemas.openxmlformats.org/drawingml/2006/main">
            <a:r>
              <a:t>- All visible text and diagrams are native editable PowerPoint objects; no full-slide raster image is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https://www.asml.com/en/company/stories/2024/5-things-high-na-euv</a:t>
            </a:r>
          </a:p>
          <a:p xmlns:a="http://schemas.openxmlformats.org/drawingml/2006/main">
            <a:r>
              <a:t>- All visible text and diagrams are native editable PowerPoint objects; no full-slide raster image is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https://www.asml.com/en/products/euv-lithography-systems</a:t>
            </a:r>
          </a:p>
          <a:p xmlns:a="http://schemas.openxmlformats.org/drawingml/2006/main">
            <a:r>
              <a:t>- https://www.asml.com/en/company/stories/2024/5-things-high-na-euv</a:t>
            </a:r>
          </a:p>
          <a:p xmlns:a="http://schemas.openxmlformats.org/drawingml/2006/main">
            <a:r>
              <a:t>- https://www.imec-int.com/en/imec-magazine/imec-magazine-march-2017/first-euv-lithography-high-volume-manufacturing-solution-for-n5-beol</a:t>
            </a:r>
          </a:p>
          <a:p xmlns:a="http://schemas.openxmlformats.org/drawingml/2006/main">
            <a:r>
              <a:t>- Cost-of-patterning 판단은 source들의 기술·공정 trade-off를 통합한 발표용 synthesis이며 특정 layer에 대한 경제성 수치를 제시하지 않음.</a:t>
            </a:r>
          </a:p>
          <a:p xmlns:a="http://schemas.openxmlformats.org/drawingml/2006/main">
            <a:r>
              <a:t>- All visible text and diagrams are native editable PowerPoint objects; no full-slide raster image is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https://www.asml.com/en/technology/lithography-principles/rayleigh-criterion</a:t>
            </a:r>
          </a:p>
          <a:p xmlns:a="http://schemas.openxmlformats.org/drawingml/2006/main">
            <a:r>
              <a:t>- https://www.asml.com/en/technology/lithography-principles/pushing-k1-further</a:t>
            </a:r>
          </a:p>
          <a:p xmlns:a="http://schemas.openxmlformats.org/drawingml/2006/main">
            <a:r>
              <a:t>- https://www.asml.com/en/products/computational-lithography</a:t>
            </a:r>
          </a:p>
          <a:p xmlns:a="http://schemas.openxmlformats.org/drawingml/2006/main">
            <a:r>
              <a:t>- https://www.asml.com/en/products/duv-lithography-systems/twinscan-nxt2000i</a:t>
            </a:r>
          </a:p>
          <a:p xmlns:a="http://schemas.openxmlformats.org/drawingml/2006/main">
            <a:r>
              <a:t>- https://www.asml.com/en/en/products/duv-lithography-systems/twinscan-nxt2050i</a:t>
            </a:r>
          </a:p>
          <a:p xmlns:a="http://schemas.openxmlformats.org/drawingml/2006/main">
            <a:r>
              <a:t>- https://www.asml.com/technology/lithography-principles/lenses-and-mirrors</a:t>
            </a:r>
          </a:p>
          <a:p xmlns:a="http://schemas.openxmlformats.org/drawingml/2006/main">
            <a:r>
              <a:t>- https://www.asml.com/en/technology/lithography-principles/light-and-lasers</a:t>
            </a:r>
          </a:p>
          <a:p xmlns:a="http://schemas.openxmlformats.org/drawingml/2006/main">
            <a:r>
              <a:t>- https://www.asml.com/en/products/euv-lithography-systems/twinscan-nxe3400c</a:t>
            </a:r>
          </a:p>
          <a:p xmlns:a="http://schemas.openxmlformats.org/drawingml/2006/main">
            <a:r>
              <a:t>- https://www.asml.com/products/euv-lithography-systems/twinscan-exe-5200b</a:t>
            </a:r>
          </a:p>
          <a:p xmlns:a="http://schemas.openxmlformats.org/drawingml/2006/main">
            <a:r>
              <a:t>- https://www.asml.com/en/company/stories/2024/5-things-high-na-euv</a:t>
            </a:r>
          </a:p>
          <a:p xmlns:a="http://schemas.openxmlformats.org/drawingml/2006/main">
            <a:r>
              <a:t>- https://doi.org/10.1063/1.1654189</a:t>
            </a:r>
          </a:p>
          <a:p xmlns:a="http://schemas.openxmlformats.org/drawingml/2006/main">
            <a:r>
              <a:t>- https://doi.org/10.1063/1.91759</a:t>
            </a:r>
          </a:p>
          <a:p xmlns:a="http://schemas.openxmlformats.org/drawingml/2006/main">
            <a:r>
              <a:t>- https://doi.org/10.1364/AO.20.003027</a:t>
            </a:r>
          </a:p>
          <a:p xmlns:a="http://schemas.openxmlformats.org/drawingml/2006/main">
            <a:r>
              <a:t>- https://doi.org/10.1117/12.309600</a:t>
            </a:r>
          </a:p>
          <a:p xmlns:a="http://schemas.openxmlformats.org/drawingml/2006/main">
            <a:r>
              <a:t>- https://doi.org/10.1117/12.450946</a:t>
            </a:r>
          </a:p>
          <a:p xmlns:a="http://schemas.openxmlformats.org/drawingml/2006/main">
            <a:r>
              <a:t>- All visible text and diagrams are native editable PowerPoint objects; no full-slide raster image is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42f41b3d6045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e3aaeaf46a4f1b" /><Relationship Type="http://schemas.openxmlformats.org/officeDocument/2006/relationships/slideLayout" Target="/ppt/slideLayouts/slideLayout1.xml" Id="Rd3dfec02286445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dfec02286445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f267a9b084706" /><Relationship Type="http://schemas.openxmlformats.org/officeDocument/2006/relationships/notesSlide" Target="/ppt/notesSlides/notesSlide1.xml" Id="R46a8316cf05f44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a26bc6b90f4c45" /><Relationship Type="http://schemas.openxmlformats.org/officeDocument/2006/relationships/notesSlide" Target="/ppt/notesSlides/notesSlide2.xml" Id="Reb21ad7c134849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3d68eba02404a" /><Relationship Type="http://schemas.openxmlformats.org/officeDocument/2006/relationships/notesSlide" Target="/ppt/notesSlides/notesSlide3.xml" Id="Redf18079222848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532f5caa574559" /><Relationship Type="http://schemas.openxmlformats.org/officeDocument/2006/relationships/notesSlide" Target="/ppt/notesSlides/notesSlide4.xml" Id="Rc3840bb5002b4e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34c5fbbf434779" /><Relationship Type="http://schemas.openxmlformats.org/officeDocument/2006/relationships/notesSlide" Target="/ppt/notesSlides/notesSlide5.xml" Id="Raa74ed762fa14c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1671fa534d45b9" /><Relationship Type="http://schemas.openxmlformats.org/officeDocument/2006/relationships/notesSlide" Target="/ppt/notesSlides/notesSlide6.xml" Id="Rb634d7285e244d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f210a9b20b479f" /><Relationship Type="http://schemas.openxmlformats.org/officeDocument/2006/relationships/notesSlide" Target="/ppt/notesSlides/notesSlide7.xml" Id="Rf0a0d5ac450547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2cfb2d32de45d3" /><Relationship Type="http://schemas.openxmlformats.org/officeDocument/2006/relationships/notesSlide" Target="/ppt/notesSlides/notesSlide8.xml" Id="Re2ccac6a67a24b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ce333232224a24" /><Relationship Type="http://schemas.openxmlformats.org/officeDocument/2006/relationships/notesSlide" Target="/ppt/notesSlides/notesSlide9.xml" Id="R7c0f0f590a3e4f0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cc0480f104be9" /><Relationship Type="http://schemas.openxmlformats.org/officeDocument/2006/relationships/notesSlide" Target="/ppt/notesSlides/notesSlide10.xml" Id="R883af112dd124ed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3cd9a21414c01" /><Relationship Type="http://schemas.openxmlformats.org/officeDocument/2006/relationships/notesSlide" Target="/ppt/notesSlides/notesSlide11.xml" Id="R22f43c6cd09f49b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244d61596841eb" /><Relationship Type="http://schemas.openxmlformats.org/officeDocument/2006/relationships/notesSlide" Target="/ppt/notesSlides/notesSlide12.xml" Id="R82405a621a84437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d4348630d495d" /><Relationship Type="http://schemas.openxmlformats.org/officeDocument/2006/relationships/notesSlide" Target="/ppt/notesSlides/notesSlide13.xml" Id="Rb3874b3703dc4bf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0843ab30e44373" /><Relationship Type="http://schemas.openxmlformats.org/officeDocument/2006/relationships/notesSlide" Target="/ppt/notesSlides/notesSlide14.xml" Id="Rec650ccbef814e5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8f898baa3a46a3" /><Relationship Type="http://schemas.openxmlformats.org/officeDocument/2006/relationships/notesSlide" Target="/ppt/notesSlides/notesSlide15.xml" Id="Re0459ed21868451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b5183cdfd44c43" /><Relationship Type="http://schemas.openxmlformats.org/officeDocument/2006/relationships/notesSlide" Target="/ppt/notesSlides/notesSlide16.xml" Id="R4c33a5dc114e4a6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26839cb1be47ba" /><Relationship Type="http://schemas.openxmlformats.org/officeDocument/2006/relationships/notesSlide" Target="/ppt/notesSlides/notesSlide17.xml" Id="R58e98e4c2530468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bb709405e4494e" /><Relationship Type="http://schemas.openxmlformats.org/officeDocument/2006/relationships/notesSlide" Target="/ppt/notesSlides/notesSlide18.xml" Id="R9273ae65343d4f7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47455d77d54930" /><Relationship Type="http://schemas.openxmlformats.org/officeDocument/2006/relationships/notesSlide" Target="/ppt/notesSlides/notesSlide19.xml" Id="Rd2267ed6e5f9443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7c9e5485274124" /><Relationship Type="http://schemas.openxmlformats.org/officeDocument/2006/relationships/notesSlide" Target="/ppt/notesSlides/notesSlide20.xml" Id="R29654f2c6c4040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B77BD5-8D7E-47C6-BBB2-BB721D36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4C3AF9-6BD9-4F5D-9C1D-DA111174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5BD0E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D0E6"/>
                </a:solidFill>
                <a:latin typeface="Arial"/>
                <a:ea typeface="Arial"/>
                <a:cs typeface="Arial"/>
              </a:rPr>
              <a:t>SEMICONDUCTOR ENGINEERING 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DC38E0-DF2F-4A7E-9521-182DCC98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40005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D7E0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7E0E8"/>
                </a:solidFill>
                <a:latin typeface="Arial"/>
                <a:ea typeface="Arial"/>
                <a:cs typeface="Arial"/>
              </a:rPr>
              <a:t>01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9D2B5F-1409-4C1F-8EDE-297DA501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EUV, 파장 너머의 문제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6F9A2F-6F93-41FC-8F74-7E452997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BD0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BD0E6"/>
                </a:solidFill>
                <a:latin typeface="Apple SD Gothic Neo"/>
                <a:ea typeface="Apple SD Gothic Neo"/>
                <a:cs typeface="Apple SD Gothic Neo"/>
              </a:rPr>
              <a:t>Pattern Transfer에서 Platform Economics까지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2BBF94-6B93-45FB-B49C-ACE6225F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19400" y="3362325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A9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F3CD5F-E3FF-41BA-9BDA-78779A64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24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9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D4E5AC-90F4-444B-A0D7-0E560FBE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95950" y="3362325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A9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F9BA09-A751-4BF4-AD6C-C9DCAA5C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24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9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99B60F-44F5-4F1C-92F3-65BEFE1C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72500" y="3362325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A9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0DB0C6-F88A-4B8E-8FB7-16158AC4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24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9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65BA64-65A3-4802-9EB9-CD1D589B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449050" y="3362325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A9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2EF6A9-999D-406D-92DB-4C84A867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324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9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26E110-4781-4321-9FC3-CE116530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22669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E72042-7F0A-42A7-919C-332565E2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670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E774E1-0DA8-463E-B2CC-2B4281B0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Pattern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7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Transfer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9B305B-A651-451E-8012-3B282B2A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14625"/>
            <a:ext cx="22669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447AC7-FB00-4123-90A4-77267012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670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816E5D-B003-441A-B7C5-09E73D20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43250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Resolution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7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Limit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268485-C857-4837-9D4A-2BB6CAB6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14625"/>
            <a:ext cx="22669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43FD33-7F0C-4CA2-84F2-57A246FD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670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B7922E-76C5-4876-9F17-EDCABDC0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43250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DUV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7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Extension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202610-311C-4FC6-BF78-08A07644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14625"/>
            <a:ext cx="22669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9525">
            <a:solidFill>
              <a:srgbClr val="1456A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36F6E9-E46A-4F5A-958E-8F6CA881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8670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5BD0E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BD0E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F45671-7371-4A81-AFAB-7E26D0A5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43250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EUV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Transition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BD805E-3401-4F04-B42D-446028A3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2714625"/>
            <a:ext cx="22669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A3E3DF-0F4B-44FB-93A8-B03BEDB0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8670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E692B1-EC97-4078-A4D0-EEFCC135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143250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Platform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7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Economics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CFA19D-7FA0-44FA-87BD-D5239D33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40208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CA14C0-C7D3-4BD2-969C-1DFC3CAE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762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9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D92634-C24C-4575-8822-F44DC3C4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38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KEY MESSAGE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F08584-4DD0-49D8-8FF6-5CE7046B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PHOTO는 pattern을 wafer 위 target film에 전사하는 기술이다.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5E7D65-6771-4418-8C3C-290B57D0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1257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미세화가 진행될수록 wavelength 하나가 아니라 optics · PR · source · scanner가 함께 움직여야 한다.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768655-633F-467E-B8DD-0CDE40CA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57925"/>
            <a:ext cx="1257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456A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456A0"/>
                </a:solidFill>
                <a:latin typeface="Apple SD Gothic Neo"/>
                <a:ea typeface="Apple SD Gothic Neo"/>
                <a:cs typeface="Apple SD Gothic Neo"/>
              </a:rPr>
              <a:t>EUV의 양산 가치는 resolution · defect · throughput · cost를 동시에 만족하는 platform에서 생긴다.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3DDC38-BFF0-4731-AC08-8A2B2A1F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80391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D45F87-286C-4151-8422-5119E5D8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1402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13" b="0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758493"/>
                </a:solidFill>
                <a:latin typeface="Arial"/>
                <a:ea typeface="Arial"/>
                <a:cs typeface="Arial"/>
              </a:rPr>
              <a:t>Reference · ASML · Rayleigh criterion; ASML · EUV lithography systems</a:t>
            </a:r>
          </a:p>
        </p:txBody>
      </p:sp>
    </p:spTree>
    <p:extLst>
      <p:ext uri="{BB962C8B-B14F-4D97-AF65-F5344CB8AC3E}">
        <p14:creationId xmlns:p14="http://schemas.microsoft.com/office/powerpoint/2010/main" val="6365464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C39ACB7-8B52-40B8-991F-4F28E2E7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PATTERN TRANSFER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4368AD-3313-41F7-BF56-CC68807B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32385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02 / 20</a:t>
            </a:r>
          </a:p>
        </p:txBody>
      </p:sp>
      <p:sp>
        <p:nvSpPr>
          <p:cNvPr id="3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16548F1A-2B6E-4954-9058-DFF3F321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402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PHOTO의 본질은 PR 형상을 target film으로 옮기는 것이다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833125-3F49-4D38-8C77-C70D02AB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161925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56A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5D964D-527D-44A9-863E-EDB94F62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572833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POSITIVE PR SEQUENCE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E2AE26-C759-425D-9CAA-78110D9C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1188" y="1704975"/>
            <a:ext cx="415766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PR → TARGET FILM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814A7C-217A-49F0-A836-08702337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771775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279550-686C-4BDE-92F0-A2A7D141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71775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6D99F1-0013-428C-B19C-3AA49845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71775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EA5CED-A2CF-4988-8C52-2F058165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71775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8E3A3C-7E51-4CA5-BC3F-F0BFD6B0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713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PR COATING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7C5CAB-D50C-4CEC-9E75-D688ECBE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933575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713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EXPOSURE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C272CD-F992-4E82-96F3-42894A49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33575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713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DEVELOP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ABC353-76CC-4369-97D5-0D6BBCB8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33575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713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ETCH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B9859B-8507-4239-AE02-54E69A8B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33575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713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PR STRIP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77909E-7B92-4B9F-A8A8-3542FB8C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1600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72345F-8521-4619-8B1A-3EE873CA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7182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Wafer / Substrate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7F781B-FF0E-4CC3-8F4F-7ACD5C26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1600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EF31CF-7292-4326-B25D-2961E1C7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7177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Target Film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4DFB8D-75E1-4646-9EDA-381ECD3A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600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6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5C58F4-7951-4D52-AF66-6D092FE5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7172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PR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33682F-E095-481D-9C2B-51DED9B2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152775"/>
            <a:ext cx="1600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1D467F-FBB3-4DF1-B527-43AE2095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7182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Wafer / Substrate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35897D-C578-462C-B290-B331AFAB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752725"/>
            <a:ext cx="1600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6FBCD1-0FDA-4221-ABAE-A6F7D1F6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7177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Target Film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751FB1-2CD3-49C8-AB88-169317DE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352675"/>
            <a:ext cx="1600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6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F82A94-35AF-4E4D-ADCF-6B74D3B9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7172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PR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757646-26FC-4ABE-9F8C-887CA6D6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52675"/>
            <a:ext cx="53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ECF5"/>
          </a:solidFill>
          <a:ln xmlns:a="http://schemas.openxmlformats.org/drawingml/2006/main" w="9525">
            <a:solidFill>
              <a:srgbClr val="16A9C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AB325F-987B-42FF-A494-E1EE51B9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52775"/>
            <a:ext cx="1600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36480D-03FB-4C9E-9325-594E2EF1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7182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Wafer / Substrate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5FAB46-4B0E-476B-9038-35EA99AE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52725"/>
            <a:ext cx="1600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E85055-90C7-4D41-AFAD-DC76AF7E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7177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Target Film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85D743-FE6F-4FA6-9BB0-D22856D5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52675"/>
            <a:ext cx="53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6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AE496C-4BC7-40EA-8197-C5A58FDC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52675"/>
            <a:ext cx="53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6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8003B9-2DF7-44E6-86F9-6B7597BF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7172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6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PR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DD2D3C-C4CE-4C60-B533-0BCF3782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37172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6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PR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2418C2-B287-4B6C-8B35-D672F214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52775"/>
            <a:ext cx="1600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3953B8-ED95-4FAA-B8C5-775BE484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7182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Wafer / Substrate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BFB3930-49F3-4C13-87B1-1B2D21D1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52725"/>
            <a:ext cx="53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38FB46D-D06B-4DBC-917B-513A04E2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52725"/>
            <a:ext cx="53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FBA619-39EA-485F-85CC-A10AB2ED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7177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6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Target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D394952-1A56-49D6-ABD7-D825098A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7177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6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Film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BA7D81-5E36-4BB3-895F-920EBBE2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52675"/>
            <a:ext cx="53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6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1E0906F-9F85-40D4-A7CB-944C88D1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52675"/>
            <a:ext cx="53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6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7BEC3E3-E255-4A24-8C13-97EEC580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7172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6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PR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9C4FCA1-824D-488C-AFAB-38511EF5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7172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6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PR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A993A09-DC60-4BE8-A0A1-7FF63544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52775"/>
            <a:ext cx="1600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8435C63-B7EE-460B-B079-62C3E1DD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7182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Wafer / Substrate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1EE9CDB-E3F7-48F7-9913-9BBBE0E4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52725"/>
            <a:ext cx="53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14A0685-EA8F-4C0E-AA45-DEC38F17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52725"/>
            <a:ext cx="53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1F05C1C-84B1-425B-BC4A-B3F01DBB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7177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6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Target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111D3C6-5FC5-489E-B8FD-B6DB974F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7177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6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Film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4A3D164-F72E-4402-9502-0EE0B31A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3840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750" b="0">
                <a:solidFill>
                  <a:srgbClr val="75849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758493"/>
                </a:solidFill>
                <a:latin typeface="Apple SD Gothic Neo"/>
                <a:ea typeface="Apple SD Gothic Neo"/>
                <a:cs typeface="Apple SD Gothic Neo"/>
              </a:rPr>
              <a:t>PR stripped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95493BF-B3A4-42C7-8C5B-FAA04FED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4332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1456A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456A0"/>
                </a:solidFill>
                <a:latin typeface="Apple SD Gothic Neo"/>
                <a:ea typeface="Apple SD Gothic Neo"/>
                <a:cs typeface="Apple SD Gothic Neo"/>
              </a:rPr>
              <a:t>노광된 positive PR 영역의 용해도 ↑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754054C-60E3-42F0-959F-CB08CDAD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4332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1456A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456A0"/>
                </a:solidFill>
                <a:latin typeface="Apple SD Gothic Neo"/>
                <a:ea typeface="Apple SD Gothic Neo"/>
                <a:cs typeface="Apple SD Gothic Neo"/>
              </a:rPr>
              <a:t>PR이 없는 곳의 target film을 제거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C3C2095-1DDC-437D-AF5A-FB86C66E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306050" y="1619250"/>
            <a:ext cx="432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56A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7CF956C-E067-420D-BC6E-393AAF41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704975"/>
            <a:ext cx="2681097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WHAT IS THE TARGET?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42D55B1-09DB-48CF-8748-39E72883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4443" y="1704975"/>
            <a:ext cx="194595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NOT THE BULK WAFER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2CE4579-6C78-470B-93E5-423CA5BA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085975"/>
            <a:ext cx="43243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3"/>
          </a:solidFill>
          <a:ln xmlns:a="http://schemas.openxmlformats.org/drawingml/2006/main" w="9525">
            <a:solidFill>
              <a:srgbClr val="0A2A4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D88CD20-D02C-4A3B-8347-C8BFF8C5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085975"/>
            <a:ext cx="47625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9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0D7EF11-2170-43ED-BD4B-6A50BC70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19325"/>
            <a:ext cx="398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TARGET FILM EXAMPLES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3B85C71-AC0D-4937-81AB-B14CE9C9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505075"/>
            <a:ext cx="39814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Oxide · Nitride · Metal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8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Poly-Si · Hard mask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415E49F-CC85-4ACD-971D-ABB3BB57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462915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56A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2BE2B3E-3D80-4602-826B-00D8A4E6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869289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PHOTO + RESIST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7AF9758-0900-4061-9E73-7F04F598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714875"/>
            <a:ext cx="630936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직관적 역할 구분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0D46C97-783C-4F66-BAF2-0510A0BD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43243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3A7C87D-7B38-4E3C-84CA-B3AD904C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47625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9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14F1598-7DF8-4533-81BE-265D54D0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29225"/>
            <a:ext cx="398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PHOTO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1F1E27D-F395-4073-947F-32369166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14975"/>
            <a:ext cx="39814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빛에 반응해 chemical solubility가 바뀐다.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41C5AFD-92D4-4B45-89C0-474BF93A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095875"/>
            <a:ext cx="43243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DEC6B22-35BC-4E16-949F-74A89240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095875"/>
            <a:ext cx="47625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BDF67F0-ACB6-46BA-AFE1-52B9F23C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29225"/>
            <a:ext cx="398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RESIST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F015D7C-47E7-4768-9888-711CAB36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514975"/>
            <a:ext cx="39814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Develop 이후 etch 등에서 후속 pattern-transfer mask가 된다.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D2A19EF-E503-4951-977C-DFA6526F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095875"/>
            <a:ext cx="47244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F0E771A-1848-4811-B18F-6CC8CB1A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095875"/>
            <a:ext cx="47625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20F7B18-F995-46E8-B2A5-9607E8EC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229225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0A2A4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A2A43"/>
                </a:solidFill>
                <a:latin typeface="Arial"/>
                <a:ea typeface="Arial"/>
                <a:cs typeface="Arial"/>
              </a:rPr>
              <a:t>TRANSFER RESULT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0FBC7B1-F4D9-4937-8B96-D87DA4C8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514975"/>
            <a:ext cx="4381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PR에 생긴 opening이 target film의 형상으로 남는다.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BB7CE57-D8E1-4112-B4D7-1F6D2641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91400"/>
            <a:ext cx="1402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75849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58493"/>
                </a:solidFill>
                <a:latin typeface="Apple SD Gothic Neo"/>
                <a:ea typeface="Apple SD Gothic Neo"/>
                <a:cs typeface="Apple SD Gothic Neo"/>
              </a:rPr>
              <a:t>‘photo-sensitive material + resist material’이라는 엄밀한 화학 정의가 아니라 역할을 이해하기 위한 표현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9156EC7-3F5B-4762-AF0C-282B494E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80391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D7FBD2B-8460-44A1-9D84-4BE3308F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1402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13" b="0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758493"/>
                </a:solidFill>
                <a:latin typeface="Arial"/>
                <a:ea typeface="Arial"/>
                <a:cs typeface="Arial"/>
              </a:rPr>
              <a:t>Reference · Tokyo Electron · The principle of Semiconductor; ASML · How microchips are made</a:t>
            </a:r>
          </a:p>
        </p:txBody>
      </p:sp>
    </p:spTree>
    <p:extLst>
      <p:ext uri="{BB962C8B-B14F-4D97-AF65-F5344CB8AC3E}">
        <p14:creationId xmlns:p14="http://schemas.microsoft.com/office/powerpoint/2010/main" val="393021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C86958-D121-43C2-BDCA-3DA591BF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RESOLUTION LIMIT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586B80-6D64-4D61-8725-35741F92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32385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03 /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B114C9-C9CA-49F9-BFB2-649E2FE3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RAYLEIGH CRITERION</a:t>
            </a:r>
          </a:p>
        </p:txBody>
      </p:sp>
      <p:sp>
        <p:nvSpPr>
          <p:cNvPr id="4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7129749C-5536-4E80-85EA-2A35DB93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402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Resolution은 λ·NA·k1이 함께 정한다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B0C895-D474-4D67-91CB-2B674534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4953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D1DFCD-F436-46C2-B7C0-8FE11CCA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71675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CD ≈ k₁ × λ / NA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80A8EF-A2FA-4117-875E-6FE702FE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5BD0E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D0E6"/>
                </a:solidFill>
                <a:latin typeface="Arial"/>
                <a:ea typeface="Arial"/>
                <a:cs typeface="Arial"/>
              </a:rPr>
              <a:t>λ  wavelength     NA  acceptance of optical system     k₁  process factor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3C647F-B16E-4231-BDF6-F94282B2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4953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C2CFF0-F2A7-444D-BA75-359B1215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9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7AA033-F38B-4212-8F66-6AEECE33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461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READING THE NUMBER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686D5F-913A-477A-B620-F9BCFE39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57600"/>
            <a:ext cx="4610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NA ↑ → imaging capability ↑ → resolution limit CD 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ADD649-F02E-40B3-BA0A-571BBC07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4953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2CF897-A3C6-416C-B7A0-07BC8AF2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A0CB0F-C434-4CF4-BA70-74CFFB1D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461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DUV VS EUV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58EC19-9402-4739-8E41-11ABD8AA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4610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DUV: projection lens NA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EUV: projection mirror optics NA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9CD00D-BCE3-4358-B3CE-BEE189F1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57900" y="1724025"/>
            <a:ext cx="857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56A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21720D-6251-4775-83E9-511CB2B7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09750"/>
            <a:ext cx="531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ACCEPTANCE CONE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FB7084-0237-4616-9FB8-6F3A69AE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809750"/>
            <a:ext cx="3857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고각 회절광 = 고공간주파수 정보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629252-C35D-46D7-924B-E2BE6207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344150" y="2933700"/>
            <a:ext cx="0" cy="3486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5849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998052-6B61-4967-BE09-2A9A0AE4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172200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2B73A3-C553-42BD-B907-C4008FCB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20077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675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WAFER PATTERN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454A40-6138-4CF9-A206-BE87491E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59626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0B7B4D-F778-43BB-8B02-E43B0EC0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600950" y="3390900"/>
            <a:ext cx="2743200" cy="2638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A9C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02CA44-30D5-4C1B-A27C-47216EF9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8858250" y="3276600"/>
            <a:ext cx="1485900" cy="2752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5849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F02673-8D43-48FC-8073-CB0F686D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344150" y="3276600"/>
            <a:ext cx="1485900" cy="2752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5849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232616-A90E-456F-B1C0-B7F94234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344150" y="3390900"/>
            <a:ext cx="2743200" cy="2638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A9C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1E86F4-5A7D-4589-AAB4-8990D13E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858250" y="3276600"/>
            <a:ext cx="297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5849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D59517-C3E0-437C-A7D5-23D6830C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00950" y="3390900"/>
            <a:ext cx="548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A9C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1D76C3-8597-49B7-BB52-CA6E7483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099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6A9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6A9CF"/>
                </a:solidFill>
                <a:latin typeface="Apple SD Gothic Neo"/>
                <a:ea typeface="Apple SD Gothic Neo"/>
                <a:cs typeface="Apple SD Gothic Neo"/>
              </a:rPr>
              <a:t>High NA · wide acceptance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B38D98-3952-455D-8ECB-F6378239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099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75849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758493"/>
                </a:solidFill>
                <a:latin typeface="Apple SD Gothic Neo"/>
                <a:ea typeface="Apple SD Gothic Neo"/>
                <a:cs typeface="Apple SD Gothic Neo"/>
              </a:rPr>
              <a:t>Low NA · narrow acceptance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724A41-0A11-4BF8-A531-FB478AAE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4578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493"/>
                </a:solidFill>
                <a:latin typeface="Arial"/>
                <a:ea typeface="Arial"/>
                <a:cs typeface="Arial"/>
              </a:rPr>
              <a:t>0th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E03DFD-099E-4289-A05A-88A48E6F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6600825"/>
            <a:ext cx="3562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56A0"/>
                </a:solidFill>
                <a:latin typeface="Arial"/>
                <a:ea typeface="Arial"/>
                <a:cs typeface="Arial"/>
              </a:rPr>
              <a:t>±1st diffraction orders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050550-E0DD-4AC7-B9B7-63BB4822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7105650"/>
            <a:ext cx="857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6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BBA31C-D05F-4252-A9A5-9CE498A9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7248525"/>
            <a:ext cx="815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NA는 ‘빛을 더 잘 꺾는 정도’가 아니라 optical system이 받아들일 수 있는 angular range다.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068494-BC37-4116-893B-D8E2E25E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80391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5FD7BB-DDBC-4A9C-AAB5-B3B4CC4B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1402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13" b="0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758493"/>
                </a:solidFill>
                <a:latin typeface="Arial"/>
                <a:ea typeface="Arial"/>
                <a:cs typeface="Arial"/>
              </a:rPr>
              <a:t>Reference · ASML · The Rayleigh criterion for resolution</a:t>
            </a:r>
          </a:p>
        </p:txBody>
      </p:sp>
    </p:spTree>
    <p:extLst>
      <p:ext uri="{BB962C8B-B14F-4D97-AF65-F5344CB8AC3E}">
        <p14:creationId xmlns:p14="http://schemas.microsoft.com/office/powerpoint/2010/main" val="9741509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2CA2767-78A7-425F-BB62-517D9747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RESOLUTION LIMIT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088DC7-98C9-49D0-A237-867F4884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32385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04 /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C3DA68-DF1A-4642-81C7-5F128F18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OPC = LOW-K₁ ENABLER</a:t>
            </a:r>
          </a:p>
        </p:txBody>
      </p:sp>
      <p:sp>
        <p:nvSpPr>
          <p:cNvPr id="4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6F8F4B13-82EB-4D1C-992E-68E43149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402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k₁을 낮출수록 같은 장비를 한계에 가깝게 쓴다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3C4AB-A1BA-44DA-B901-110FAD6D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1719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0D794B-1963-47F4-A083-14D88CFD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762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DB9B09-58A6-4805-8F7A-EB1F597B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28800"/>
            <a:ext cx="3829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K₁ 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FC9450-7233-4892-9390-58B9DBE4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3829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같은 λ와 NA에서 더 작은 feature를 요구한다.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61F627-BA98-4F69-8DC8-17D6BCD0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417195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94C34A-77BB-4ECA-8D48-C55C614F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476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4A0871-4F1D-4F3A-8684-1A9C11F4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3829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E78C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E78C35"/>
                </a:solidFill>
                <a:latin typeface="Arial"/>
                <a:ea typeface="Arial"/>
                <a:cs typeface="Arial"/>
              </a:rPr>
              <a:t>THE COST OF LOW-K₁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CEF5BB-CFF4-426A-8DF6-12EB7E9A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38290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Image contrast · process margin ↓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Dose · focus · mask · PR variation sensitivity 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95206E-C41D-4985-9D03-0D2370D0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41719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560178-1933-4D2C-8388-B6994F29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371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낮은 k₁ = 무조건 좋은 공정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 아니라 optical limit에 가까운 공정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CE562D-FD11-4ABE-A4C3-560D3E49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76850" y="1695450"/>
            <a:ext cx="935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56A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BDDAB9-3A22-4988-966C-FCD36E96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781175"/>
            <a:ext cx="579920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MASK → OPTICAL IMAGE → WAFER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973F8F-1644-467E-8CEC-0A1E7ECD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1303" y="1781175"/>
            <a:ext cx="420909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보정 전 / 보정 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D4D768-9E1E-486D-A1B6-16A7949B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24800" y="36195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AF7834-93DD-4259-91C5-435AAF49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24800" y="595312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56A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224F80-7C93-4485-AE89-CB516DD5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8137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7A5A9D-29AE-4A70-AE84-89293512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715000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2A7831-8B04-49EA-B38D-4A6C58BB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38425"/>
            <a:ext cx="24003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E7D83D-0AC3-47D8-9A92-DD50BE2D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0035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LITERAL MASK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0F477F-480C-4696-9CE9-4156148B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57550"/>
            <a:ext cx="5143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A3A44A-FD86-41DF-9FC3-00847C13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57550"/>
            <a:ext cx="5143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7846FE-8F45-47D4-BB42-63F4C728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38425"/>
            <a:ext cx="24003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C12472-95E3-4E9A-A541-B097969F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0035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PRINTED RESULT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CFEFDC-B3AC-4DF5-A519-CA3BFB1D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2861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84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42AE9D-22CA-49E2-824F-C0E86D38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2861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84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540C63-30D2-453E-8734-B975EDED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62425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D94B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D94B4B"/>
                </a:solidFill>
                <a:latin typeface="Apple SD Gothic Neo"/>
                <a:ea typeface="Apple SD Gothic Neo"/>
                <a:cs typeface="Apple SD Gothic Neo"/>
              </a:rPr>
              <a:t>rounded / shortened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31D779-8C46-4189-8B2D-E9D62C24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972050"/>
            <a:ext cx="24003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1456A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0634DD-D6F1-484F-A178-517D87C4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133975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OPC-CORRECTED MASK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0CFD24-DDD6-4D8F-9F71-541D9B72F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648325"/>
            <a:ext cx="781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A714F7-43A0-45B1-9635-B60040D4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648325"/>
            <a:ext cx="781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963BD8-4BE7-49A1-8475-D5DA1D33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848350"/>
            <a:ext cx="1981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82C8EA-988D-45A1-830B-5790A194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72050"/>
            <a:ext cx="24003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6FB"/>
          </a:solidFill>
          <a:ln xmlns:a="http://schemas.openxmlformats.org/drawingml/2006/main" w="9525">
            <a:solidFill>
              <a:srgbClr val="16A9C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C3AEB8-4CD4-4C92-8BF3-99D09D14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133975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PRINTED RESULT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3731EFD-342C-4F07-A9D0-B173A75A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629275"/>
            <a:ext cx="552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4D824E7-86F9-4C49-929E-AA4C017D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629275"/>
            <a:ext cx="552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24B2D64-35DE-4918-A5B4-2DAEEEF9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486525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1456A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456A0"/>
                </a:solidFill>
                <a:latin typeface="Apple SD Gothic Neo"/>
                <a:ea typeface="Apple SD Gothic Neo"/>
                <a:cs typeface="Apple SD Gothic Neo"/>
              </a:rPr>
              <a:t>target에 가까운 geometry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CCEEE1-06D3-4CB9-82A1-187819B2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972050"/>
            <a:ext cx="329565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75300BC-C07A-45E0-A19C-809BF434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972050"/>
            <a:ext cx="47625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9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025EE42-A173-46A4-9926-FD744009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1054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OPC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4908878-D952-4AEF-8DD1-746D0AA1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391150"/>
            <a:ext cx="2952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Diffraction과 imaging error를 미리 계산해 mask geometry를 의도적으로 보정하는 computational lithography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9A36A4D-2468-4FCB-A179-CDA4AB79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7267575"/>
            <a:ext cx="935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1">
                <a:solidFill>
                  <a:srgbClr val="1456A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456A0"/>
                </a:solidFill>
                <a:latin typeface="Apple SD Gothic Neo"/>
                <a:ea typeface="Apple SD Gothic Neo"/>
                <a:cs typeface="Apple SD Gothic Neo"/>
              </a:rPr>
              <a:t>OPC는 ‘mask를 이상하게 그리는 기술’이 아니라 low-k₁ lithography를 가능하게 한 핵심 RET다.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14E2B09-4698-48B4-A460-603BB64C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80391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EA8B8F2-6DEB-46C8-8829-AB224A60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1402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13" b="0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758493"/>
                </a:solidFill>
                <a:latin typeface="Arial"/>
                <a:ea typeface="Arial"/>
                <a:cs typeface="Arial"/>
              </a:rPr>
              <a:t>Reference · ASML · Pushing k1 further; ASML · Computational lithography</a:t>
            </a:r>
          </a:p>
        </p:txBody>
      </p:sp>
    </p:spTree>
    <p:extLst>
      <p:ext uri="{BB962C8B-B14F-4D97-AF65-F5344CB8AC3E}">
        <p14:creationId xmlns:p14="http://schemas.microsoft.com/office/powerpoint/2010/main" val="784259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AAB4B5E-7522-4EFA-9D5F-279A4AA0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DUV EXTENSION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754417-EA16-4901-904C-D4FF259F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32385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05 /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C67F19-2499-462A-9942-6AE9CEE7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ARF = SOURCE, NOT LENS</a:t>
            </a:r>
          </a:p>
        </p:txBody>
      </p:sp>
      <p:sp>
        <p:nvSpPr>
          <p:cNvPr id="4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71DF8C3E-2062-463E-B914-8EC0C477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402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ArF immersion은 193 nm를 유지하면서 NA를 1.35까지 높였다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A22955-C721-45AA-AC0D-007DAFE7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1695450"/>
            <a:ext cx="10267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56A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6757BD-F655-432E-92D7-23384F6D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636612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OPTICAL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46D0F5-1038-49C8-8AC0-EF6B7660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973" y="1781175"/>
            <a:ext cx="462057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TRANSMISSIVE RETICLE + REFRACTIVE LENS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8B49CB-0D73-40D3-8F29-9A98A2B3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1432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3D27D2-4F29-42BE-9BA4-0EFDE3A9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432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697DEA-4316-408B-9B22-9719E2C7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432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F15A41-1505-48D4-BCD6-61DD744A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8049AC-1803-441E-A446-0CE80DBA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428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3"/>
          </a:solidFill>
          <a:ln xmlns:a="http://schemas.openxmlformats.org/drawingml/2006/main" w="9525">
            <a:solidFill>
              <a:srgbClr val="0A2A4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AAEF57-E49F-4847-8F04-0FD83737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428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9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7EF6D0-C8F5-4489-8A00-B9C02D6D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750" b="1">
                <a:solidFill>
                  <a:srgbClr val="5BD0E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BD0E6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6B9491-886B-4BBF-9A71-6824003C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11620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ArF excimer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193 nm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D434DE-C8BC-4236-AEDC-EC585925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43150"/>
            <a:ext cx="1619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381070-51C8-48F9-AC0D-AF9520F1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43150"/>
            <a:ext cx="161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93C524-3C88-4CE9-A02E-6CA595A4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1460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75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ILLUMINATION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03FC27-CECE-49FF-842E-5FBDE5B7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819400"/>
            <a:ext cx="13525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Angle · pupil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control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E18352-7264-4F7F-AA86-9867EF6F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43150"/>
            <a:ext cx="1619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85924C-D619-4FE1-8FBF-027206A7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43150"/>
            <a:ext cx="161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421DF8-CACF-40A4-AF45-62E356C9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1460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75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RETICLE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E2E592-4100-45DA-9611-7CFD6BE0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19400"/>
            <a:ext cx="13525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Transmissive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pattern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DE8449-5FBF-4002-A9D3-F2FAE7A1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43150"/>
            <a:ext cx="1828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378209-1F53-4EB0-9E99-2505E4DF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43150"/>
            <a:ext cx="1828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EFF298-4A71-4A6B-9AF1-9A3E9F34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14600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75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PROJECTION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0B057B-41FE-4064-B487-B13B3E1F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19400"/>
            <a:ext cx="15621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Refractive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lens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D2063A-FEF3-40F4-AE54-38777430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43150"/>
            <a:ext cx="2209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3"/>
          </a:solidFill>
          <a:ln xmlns:a="http://schemas.openxmlformats.org/drawingml/2006/main" w="9525">
            <a:solidFill>
              <a:srgbClr val="0A2A4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852B91-A415-4C65-A228-224A0EA7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43150"/>
            <a:ext cx="2209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9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886E1C-182E-4BA9-A3BC-37E179E3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14600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750" b="1">
                <a:solidFill>
                  <a:srgbClr val="5BD0E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BD0E6"/>
                </a:solidFill>
                <a:latin typeface="Arial"/>
                <a:ea typeface="Arial"/>
                <a:cs typeface="Arial"/>
              </a:rPr>
              <a:t>LAST GAP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210FC5-729C-4E10-91FE-80167E34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19400"/>
            <a:ext cx="19431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Water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↓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Wafer PR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2B45D1-39C2-4119-A9E7-3222746E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26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456A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456A0"/>
                </a:solidFill>
                <a:latin typeface="Apple SD Gothic Neo"/>
                <a:ea typeface="Apple SD Gothic Neo"/>
                <a:cs typeface="Apple SD Gothic Neo"/>
              </a:rPr>
              <a:t>Immersion water는 projection lens의 마지막 optical element와 wafer PR 사이에 있다.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05953D-C270-4BE5-86E8-1ABB1BD7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353800" y="1695450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56A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B47CC3-09D2-427B-A5E5-C783EC8D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1781175"/>
            <a:ext cx="2031492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PRODUCTION SCALE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698015-DF03-40C8-97CE-0D8E99F2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5930" y="1781175"/>
            <a:ext cx="147447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TOOL-LEVEL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CF46E7-795E-490C-8245-C45A0B5B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171700"/>
            <a:ext cx="32766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014920-BF51-4C17-8AEF-0859A041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2362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 b="1">
                <a:solidFill>
                  <a:srgbClr val="5BD0E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D0E6"/>
                </a:solidFill>
                <a:latin typeface="Arial"/>
                <a:ea typeface="Arial"/>
                <a:cs typeface="Arial"/>
              </a:rPr>
              <a:t>WATER-BASED ARF IMMERSION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A2E4D4-C464-47AC-A8F3-2921FE2D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27813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57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NA 1.35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977D9C-2D49-431E-9B8B-96B9DD5A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33718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39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925" b="1">
                <a:solidFill>
                  <a:srgbClr val="5BD0E6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5BD0E6"/>
                </a:solidFill>
                <a:latin typeface="Arial"/>
                <a:ea typeface="Arial"/>
                <a:cs typeface="Arial"/>
              </a:rPr>
              <a:t>38–40 nm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0D11B04-93C5-4FF4-8118-3AFA7394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3886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D7E0E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7E0E8"/>
                </a:solidFill>
                <a:latin typeface="Arial"/>
                <a:ea typeface="Arial"/>
                <a:cs typeface="Arial"/>
              </a:rPr>
              <a:t>production resolution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15DA0D-6FBC-4B34-B908-0ED5F223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44196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378A36D-715E-412D-95FB-EE018A4E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476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9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A647E9C-8114-410A-A008-CC587AB8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407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ARF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1AF12C4-5920-4A81-9B18-6B1DE54F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29300"/>
            <a:ext cx="40767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Argon Fluoride excimer laser source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λ = 193 nm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799EDA2-CE96-424E-8E6B-F5E96324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410200"/>
            <a:ext cx="44196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D82E1D7-6E36-435A-A4BF-FE79B9E9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410200"/>
            <a:ext cx="476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235BDAB-B3B8-4BBC-B049-B1648993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543550"/>
            <a:ext cx="407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IMMERSION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5E25E34-61F7-4AD3-A3AF-CA62D5FE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829300"/>
            <a:ext cx="40767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Water의 refractive index를 이용해 optical-system NA를 높인다.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26BFA05-1A99-45D7-A275-2B839F56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410200"/>
            <a:ext cx="44196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F16DC21-2EB9-4313-B962-D1A56DB7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410200"/>
            <a:ext cx="476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D525384-E033-42DB-A712-E3302232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543550"/>
            <a:ext cx="407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0A2A4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A2A43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78FA734-E01D-4625-9D7E-6F14B16E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829300"/>
            <a:ext cx="40767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38–40 nm는 node name이 아니라 tool-level single-patterning resolution이다.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3B22E63-4CCE-46ED-89D3-D5E6CCA3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80391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7D6AAE4-7BB9-490F-90F9-E9CDB4AF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1402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13" b="0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758493"/>
                </a:solidFill>
                <a:latin typeface="Arial"/>
                <a:ea typeface="Arial"/>
                <a:cs typeface="Arial"/>
              </a:rPr>
              <a:t>Reference · ASML · Lenses &amp; mirrors; ASML · Light &amp; lasers; TWINSCAN NXT:2000i / 2050i</a:t>
            </a:r>
          </a:p>
        </p:txBody>
      </p:sp>
    </p:spTree>
    <p:extLst>
      <p:ext uri="{BB962C8B-B14F-4D97-AF65-F5344CB8AC3E}">
        <p14:creationId xmlns:p14="http://schemas.microsoft.com/office/powerpoint/2010/main" val="240646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36B221-4AD0-4156-9A21-4FD6C445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RESOLUTION LIMIT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869C07-429A-49D7-B6E2-481DB5D3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32385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06 /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B10681-DBC7-44A0-A0AF-A3E3D7F6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Λ ALONE DOES NOT SET RESOLUTION</a:t>
            </a:r>
          </a:p>
        </p:txBody>
      </p:sp>
      <p:sp>
        <p:nvSpPr>
          <p:cNvPr id="4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B64D50B0-8C6F-4FCC-B059-F8C15989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402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193 ÷ 13.5 ≈ 14.3, 그러나 실제 resolution은 14배가 아니다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9CE472-D21F-4F4B-8233-73AB7D01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4020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562DED-AB57-4350-A0BB-6E18B01E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716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5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CD ≈ k₁ × λ / NA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6CA405-4148-4C3A-B194-DEF76B84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574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650" b="0">
                <a:solidFill>
                  <a:srgbClr val="5BD0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D0E6"/>
                </a:solidFill>
                <a:latin typeface="Arial"/>
                <a:ea typeface="Arial"/>
                <a:cs typeface="Arial"/>
              </a:rPr>
              <a:t>Wavelength advantage is filtered through NA and k₁.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114747-0C75-469F-A5DB-DD811757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41148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D4315E-9EBF-450F-A5E5-A56DC491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4114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4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B270F8-DC37-463A-94F2-9F6E1971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3657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ARF IMMERSION DUV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83CC94-783E-4449-8279-D84A023D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90950"/>
            <a:ext cx="3657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2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0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193 nm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789561-E8B8-4E4D-88E5-500E2786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365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0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758493"/>
                </a:solidFill>
                <a:latin typeface="Arial"/>
                <a:ea typeface="Arial"/>
                <a:cs typeface="Arial"/>
              </a:rPr>
              <a:t>NA ≈ 1.35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806CC4-403C-41B4-8409-96E50ACF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" y="5124450"/>
            <a:ext cx="289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39AA14-BA84-4578-AB31-DA99E275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72100"/>
            <a:ext cx="365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90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850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38–40 nm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6A3136-F6CD-42F7-AF8A-C68B4656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3657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675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PRODUCTION RESOLUTION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3A79FE-3FA6-4817-8365-0D313C1A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86100"/>
            <a:ext cx="41148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937901-0C41-4904-AA6D-753FDEAE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86100"/>
            <a:ext cx="4114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6031DA-2356-4334-82C0-00B589A4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333750"/>
            <a:ext cx="3657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LOW-NA EUV · NXE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B158A8-42C7-42C3-A600-F3EDA460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790950"/>
            <a:ext cx="3657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2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0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13.5 nm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1C489A-E31F-4B4E-986F-3D656993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552950"/>
            <a:ext cx="365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0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56A0"/>
                </a:solidFill>
                <a:latin typeface="Arial"/>
                <a:ea typeface="Arial"/>
                <a:cs typeface="Arial"/>
              </a:rPr>
              <a:t>NA = 0.33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876B5A-4DFA-4AC7-93C4-0E01EBD9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43600" y="5124450"/>
            <a:ext cx="289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4A343B-02A2-4302-8DBD-B6F2A3D2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72100"/>
            <a:ext cx="365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90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85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≈ 13 nm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929466-FC83-41F8-B00C-DB5CA643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905500"/>
            <a:ext cx="3657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675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PRODUCTION RESOLUTION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5DC782-D461-4D0D-9940-AE53AAF6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086100"/>
            <a:ext cx="41148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F0F8FF-8EF2-4DBC-903A-C5F34BD7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086100"/>
            <a:ext cx="4114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9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5260AD-0B9F-4B5C-8469-E8A9CC50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33750"/>
            <a:ext cx="3657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HIGH-NA EUV · EXE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49E991-79C1-45F5-A29D-A20CE332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90950"/>
            <a:ext cx="3657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2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0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13.5 nm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B21A06-BB18-4DB2-82F5-B4F8EDFF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52950"/>
            <a:ext cx="365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0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A9CF"/>
                </a:solidFill>
                <a:latin typeface="Arial"/>
                <a:ea typeface="Arial"/>
                <a:cs typeface="Arial"/>
              </a:rPr>
              <a:t>NA = 0.55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07AE17-AB2A-4AEE-BF10-1A118B54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668000" y="5124450"/>
            <a:ext cx="289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F0D96E-5D99-4790-83C5-F73340AE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372100"/>
            <a:ext cx="365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90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850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≈ 8 nm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50CF2F-73DC-4FB0-8ED9-DB79D199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905500"/>
            <a:ext cx="3657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675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PRODUCTION RESOLUTION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8F4A49-347C-4360-8D34-9DD7AFC0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05600"/>
            <a:ext cx="1402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1456A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456A0"/>
                </a:solidFill>
                <a:latin typeface="Apple SD Gothic Neo"/>
                <a:ea typeface="Apple SD Gothic Neo"/>
                <a:cs typeface="Apple SD Gothic Neo"/>
              </a:rPr>
              <a:t>같은 13.5 nm에서도 NA 0.33 → 0.55가 imaging capability를 바꾼다.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0FCDAF-ABDF-424D-B820-128ECD2A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96150"/>
            <a:ext cx="1402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0">
                <a:solidFill>
                  <a:srgbClr val="75849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58493"/>
                </a:solidFill>
                <a:latin typeface="Apple SD Gothic Neo"/>
                <a:ea typeface="Apple SD Gothic Neo"/>
                <a:cs typeface="Apple SD Gothic Neo"/>
              </a:rPr>
              <a:t>비교 수치는 각 ASML platform의 공식 production-resolution 표기이며 공정 node 명칭과 동일하지 않다.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968071-E7D7-4EEB-935F-5174C6B2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80391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875E00-71B0-4C78-A475-F5F8AC5D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1402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13" b="0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758493"/>
                </a:solidFill>
                <a:latin typeface="Arial"/>
                <a:ea typeface="Arial"/>
                <a:cs typeface="Arial"/>
              </a:rPr>
              <a:t>Reference · ASML · NXT:2050i; NXE:3400C; EXE:5200B</a:t>
            </a:r>
          </a:p>
        </p:txBody>
      </p:sp>
    </p:spTree>
    <p:extLst>
      <p:ext uri="{BB962C8B-B14F-4D97-AF65-F5344CB8AC3E}">
        <p14:creationId xmlns:p14="http://schemas.microsoft.com/office/powerpoint/2010/main" val="5539280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D85594A-EC76-442D-84CF-0FF58FC9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DUV EXTENSION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469F02-46E0-4ED5-99F1-5F288F8E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32385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07 /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5E5622-F7A7-4C84-9490-20FEA46D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LELE ≠ SELF-ALIGNED SPACER PATTERNING</a:t>
            </a:r>
          </a:p>
        </p:txBody>
      </p:sp>
      <p:sp>
        <p:nvSpPr>
          <p:cNvPr id="4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DF3AD1CF-3EDC-4A32-AAE7-1CD7E768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402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Multi-patterning은 density를 늘리지만 공정·overlay·비용도 늘린다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AF3041-8CE1-4A95-B5CF-1AD887C6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1714500"/>
            <a:ext cx="358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56A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AB99EB-3641-4439-9682-9E3B8038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222046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LELE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5574DB-6610-4BC9-A512-DFB912C2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370" y="1800225"/>
            <a:ext cx="161163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MULTIPLE LITHOGRAPHY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2A39ED-5DFB-4CA3-BB95-CEF61545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5814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46E477-6E3B-40D9-BF31-9672FE95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7625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4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D4076D-AD37-4467-AB27-8BC7AC5B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LITHO → ETCH → LITHO → ETCH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A4C9A4-DB26-4C05-B73C-554D14F6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두 번의 independent exposure를 분해해 pitch를 줄인다.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Overlay 관리가 핵심 부담이다.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B1DB1A-E467-4331-8CE0-129C4FD7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456A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456A0"/>
                </a:solidFill>
                <a:latin typeface="Apple SD Gothic Neo"/>
                <a:ea typeface="Apple SD Gothic Neo"/>
                <a:cs typeface="Apple SD Gothic Neo"/>
              </a:rPr>
              <a:t>Mask 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88FAC0-325F-42F3-BD34-F040EAD5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3624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6A9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6A9CF"/>
                </a:solidFill>
                <a:latin typeface="Apple SD Gothic Neo"/>
                <a:ea typeface="Apple SD Gothic Neo"/>
                <a:cs typeface="Apple SD Gothic Neo"/>
              </a:rPr>
              <a:t>Mask 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FD7E26-A5FB-43AB-8960-CEAE5A6E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00600"/>
            <a:ext cx="323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E3FA0A-97A4-4934-988C-3AB25ECD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00600"/>
            <a:ext cx="323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9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C0615A-50C1-4F04-A08E-8AFC00F0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00600"/>
            <a:ext cx="323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7B54F2-A651-45AF-92C7-599AB038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800600"/>
            <a:ext cx="323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9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AA8E6C-94F0-4425-AA84-DE27052F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6048375"/>
            <a:ext cx="358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8CCB33-3844-42B8-B074-2331452A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3581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E78C3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78C35"/>
                </a:solidFill>
                <a:latin typeface="Apple SD Gothic Neo"/>
                <a:ea typeface="Apple SD Gothic Neo"/>
                <a:cs typeface="Apple SD Gothic Neo"/>
              </a:rPr>
              <a:t>Independent exposure 간 overlay opportunity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366F95-E2B8-48D9-B6FF-D6257FBE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48200" y="1714500"/>
            <a:ext cx="998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56A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4806AA-9F9C-42B9-AE5D-409C347F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00225"/>
            <a:ext cx="6188964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SADP → SAQP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D5B51C-2001-4954-9062-B58EC8E8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8410" y="1800225"/>
            <a:ext cx="44919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SELF-ALIGNED SPACER SEQUENCE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8526F8-6A19-401B-99E8-81250FCF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766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B9CBBF-4C7F-4626-943A-222FE1D4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766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D769BD-1C92-4407-AC52-9D9F19F3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2766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299329-2E01-415F-8A05-82CC3306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32766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970652-97FA-4BBB-824A-7F35950F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7645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675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MANDREL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734764-AFC9-4CBC-A4F0-92B8947B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7645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675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CONFORMAL SPACER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D03B07-9289-4861-9D9B-E8A8989D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7645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67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ANISOTROPIC ETCH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156FD4-A952-48CA-B06E-7F87089A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07645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67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MANDREL REMOVAL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9EEA5E-073E-46C9-852F-EAF2DC8A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07645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67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PATTERN TRANSFER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1F074B-F99F-453F-AE4A-1AA39003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48100"/>
            <a:ext cx="1543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09A010-4E2A-47B3-88ED-BF584F9D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76675"/>
            <a:ext cx="1543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675" b="0">
                <a:solidFill>
                  <a:srgbClr val="75849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758493"/>
                </a:solidFill>
                <a:latin typeface="Apple SD Gothic Neo"/>
                <a:ea typeface="Apple SD Gothic Neo"/>
                <a:cs typeface="Apple SD Gothic Neo"/>
              </a:rPr>
              <a:t>target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A10E01-AE0C-48F6-9CA9-AB604DEF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48100"/>
            <a:ext cx="1543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D3E3D9-21A3-4EC7-8A2C-5F4D816A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76675"/>
            <a:ext cx="1543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675" b="0">
                <a:solidFill>
                  <a:srgbClr val="75849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758493"/>
                </a:solidFill>
                <a:latin typeface="Apple SD Gothic Neo"/>
                <a:ea typeface="Apple SD Gothic Neo"/>
                <a:cs typeface="Apple SD Gothic Neo"/>
              </a:rPr>
              <a:t>target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53EE32-0E7E-4BCB-9CC5-8F3E22EC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48100"/>
            <a:ext cx="1543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BE632F-0715-414C-8F85-49BFAFAD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76675"/>
            <a:ext cx="1543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675" b="0">
                <a:solidFill>
                  <a:srgbClr val="75849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758493"/>
                </a:solidFill>
                <a:latin typeface="Apple SD Gothic Neo"/>
                <a:ea typeface="Apple SD Gothic Neo"/>
                <a:cs typeface="Apple SD Gothic Neo"/>
              </a:rPr>
              <a:t>target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95162E-E5B3-4A99-ADCE-2BC63907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848100"/>
            <a:ext cx="1543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C405D15-C5B8-4FF7-AE43-E3492697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876675"/>
            <a:ext cx="1543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675" b="0">
                <a:solidFill>
                  <a:srgbClr val="75849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758493"/>
                </a:solidFill>
                <a:latin typeface="Apple SD Gothic Neo"/>
                <a:ea typeface="Apple SD Gothic Neo"/>
                <a:cs typeface="Apple SD Gothic Neo"/>
              </a:rPr>
              <a:t>target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0B3CB45-860A-4F41-96BB-AC29A5F9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848100"/>
            <a:ext cx="1543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0AE77B-6DB2-4E50-A6FA-A4AA2CCB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876675"/>
            <a:ext cx="1543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675" b="0">
                <a:solidFill>
                  <a:srgbClr val="75849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758493"/>
                </a:solidFill>
                <a:latin typeface="Apple SD Gothic Neo"/>
                <a:ea typeface="Apple SD Gothic Neo"/>
                <a:cs typeface="Apple SD Gothic Neo"/>
              </a:rPr>
              <a:t>target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E80E488-0B67-4BA0-B55D-D68A59E3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81300"/>
            <a:ext cx="514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BFF8881-054D-4ABA-9C96-30114939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05100"/>
            <a:ext cx="1143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9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A7475BA-C21E-4FAE-9882-D4F9ED4E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81300"/>
            <a:ext cx="514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8C77EEE-63C0-49A3-813B-AAC4CF5C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705100"/>
            <a:ext cx="1143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9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72394AF-F8DB-4E3A-8C98-0D34E715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81300"/>
            <a:ext cx="114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9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B5F2CC0-A204-4EAA-BD1D-29DD3398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81300"/>
            <a:ext cx="514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03EF993-F228-45D9-A97A-ED67C62D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81300"/>
            <a:ext cx="114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9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D803942-BE4F-4129-AD85-E6F22116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781300"/>
            <a:ext cx="114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9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6AE5AE7-D845-419E-AD3F-6684D6B1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2781300"/>
            <a:ext cx="114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9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864FA4D-009D-494C-817F-7D791657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219450"/>
            <a:ext cx="1143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EAF540C-64E4-4FC9-ACDC-F8C3C38D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219450"/>
            <a:ext cx="1143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D6D7BC0-4CB5-4CD0-AA26-76E972C3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2910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75849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758493"/>
                </a:solidFill>
                <a:latin typeface="Apple SD Gothic Neo"/>
                <a:ea typeface="Apple SD Gothic Neo"/>
                <a:cs typeface="Apple SD Gothic Neo"/>
              </a:rPr>
              <a:t>sacrificial core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F11854F-45D1-4F29-861A-EE7DB559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2910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16A9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6A9CF"/>
                </a:solidFill>
                <a:latin typeface="Apple SD Gothic Neo"/>
                <a:ea typeface="Apple SD Gothic Neo"/>
                <a:cs typeface="Apple SD Gothic Neo"/>
              </a:rPr>
              <a:t>sidewall only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8F3CC28-BC5A-49DF-B3E2-DDDE6D7F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422910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1456A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456A0"/>
                </a:solidFill>
                <a:latin typeface="Apple SD Gothic Neo"/>
                <a:ea typeface="Apple SD Gothic Neo"/>
                <a:cs typeface="Apple SD Gothic Neo"/>
              </a:rPr>
              <a:t>density ≈ 2×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8EF02DF-12DB-40B9-87A3-3050DA4B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95850"/>
            <a:ext cx="9982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1F56577-31C9-47D1-A416-DF706B1F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0482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SAQP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E4FDDAE-B08F-4B86-9D15-A9F5866A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048250"/>
            <a:ext cx="8553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Spacer-derived structure를 다시 mandrel처럼 사용해 spacer patterning을 한 번 더 수행 → density를 다시 증가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9E142BD-322B-4F93-93BA-FC2F35A2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61912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E78C3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E78C35"/>
                </a:solidFill>
                <a:latin typeface="Apple SD Gothic Neo"/>
                <a:ea typeface="Apple SD Gothic Neo"/>
                <a:cs typeface="Apple SD Gothic Neo"/>
              </a:rPr>
              <a:t>‘공짜 resolution’이 아니다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C6A1F88-77FA-4859-8210-6C0463BF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6667500"/>
            <a:ext cx="9982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Deposition · etch · mandrel removal · cut/block mask · metrology가 추가되어 cycle time, overlay management, process complexity, cost가 증가한다.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BC8CBCA-4057-44F2-A1E2-CD5D63BA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80391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72AB65E-711A-4BFA-A8C9-F9E91A2F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1402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13" b="0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758493"/>
                </a:solidFill>
                <a:latin typeface="Arial"/>
                <a:ea typeface="Arial"/>
                <a:cs typeface="Arial"/>
              </a:rPr>
              <a:t>Reference · SPIE · Self-aligned double patterning; imec · SAQP / EUV N5 BEOL integration</a:t>
            </a:r>
          </a:p>
        </p:txBody>
      </p:sp>
    </p:spTree>
    <p:extLst>
      <p:ext uri="{BB962C8B-B14F-4D97-AF65-F5344CB8AC3E}">
        <p14:creationId xmlns:p14="http://schemas.microsoft.com/office/powerpoint/2010/main" val="18177824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7FC767D-6356-4442-B88B-0255BD5E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EUV TRANSITION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3F6A82-47D7-4BA2-AD63-483B253A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32385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08 /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4AE5F1-0ED6-4439-BE5F-B6233205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PHOTON ENERGY CHANGES THE OPTICAL PLATFORM</a:t>
            </a:r>
          </a:p>
        </p:txBody>
      </p:sp>
      <p:sp>
        <p:nvSpPr>
          <p:cNvPr id="4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4961B473-41F6-466A-A65B-ABDEBFC4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402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13.5 nm는 기존 DUV lens에 그대로 넣을 수 없다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C838F3-8334-4D39-BE52-0B9DABD8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5910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6CC2F7-5149-4467-B43A-AE20F09A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413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 b="1">
                <a:solidFill>
                  <a:srgbClr val="5BD0E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D0E6"/>
                </a:solidFill>
                <a:latin typeface="Arial"/>
                <a:ea typeface="Arial"/>
                <a:cs typeface="Arial"/>
              </a:rPr>
              <a:t>PHOTON ENERGY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E1A282-DA68-4F65-A6D9-2AC78739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413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57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 = hc / 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65B858-4E86-4329-BD9B-87312520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4133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5BD0E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BD0E6"/>
                </a:solidFill>
                <a:latin typeface="Arial"/>
                <a:ea typeface="Arial"/>
                <a:cs typeface="Arial"/>
              </a:rPr>
              <a:t>13.5 nm  →  ≈ 92 eV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65A25-0889-4DF1-97E4-C4083251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14725"/>
            <a:ext cx="413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D7E0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7E0E8"/>
                </a:solidFill>
                <a:latin typeface="Arial"/>
                <a:ea typeface="Arial"/>
                <a:cs typeface="Arial"/>
              </a:rPr>
              <a:t>high-energy EUV photon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BF5823-53D9-4850-863E-74F90AD3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95950" y="17145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56A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E9EE44-EAD4-4D0C-934D-C48457E2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800225"/>
            <a:ext cx="553935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3C3E40-94DC-4192-86F3-D843F1AF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898" y="1800225"/>
            <a:ext cx="402050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기존 DUV OPTICS 재사용?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B9AB8C-2919-4667-9864-81A8BECE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257425"/>
            <a:ext cx="64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13.5 nm 빛을 만들었다면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기존 transmissive lens에 넣으면 되는가?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817F75-423B-4FDC-B64B-113D73FB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2209800"/>
            <a:ext cx="21145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CD9CB6-6C8E-4396-9AB6-500D2834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2333625"/>
            <a:ext cx="2114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27FEF4-9FDC-4152-A6E4-FE9FD023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571875"/>
            <a:ext cx="893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456A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456A0"/>
                </a:solidFill>
                <a:latin typeface="Apple SD Gothic Neo"/>
                <a:ea typeface="Apple SD Gothic Neo"/>
                <a:cs typeface="Apple SD Gothic Neo"/>
              </a:rPr>
              <a:t>EUV 영역에서는 공기와 대부분의 optical material이 빛을 강하게 흡수한다.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309FB0-4155-4DC6-9481-9351B730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447675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56A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9BE8AF-18A6-4761-A050-9DC2880C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869289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WHAT CHANGES?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04D69A-2744-4A64-8FD2-96C97572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562475"/>
            <a:ext cx="630936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VACUUM + REFLECTIVE OPTICS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AB14C6-71F1-43C0-B34A-4B5280AB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8483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17EB84-0DBD-4CB0-92EF-E1A032D0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8483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52E8FC-CBE6-434F-8DD1-207AA543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8483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908DC1-8DA0-497F-8D96-8EBFF86F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266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23BDD9-6A6B-4FE9-9A3B-18DFC1F4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266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8FDE5F-C987-4E8C-A637-8CA4C71F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750" b="1">
                <a:solidFill>
                  <a:srgbClr val="D94B4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94B4B"/>
                </a:solidFill>
                <a:latin typeface="Arial"/>
                <a:ea typeface="Arial"/>
                <a:cs typeface="Arial"/>
              </a:rPr>
              <a:t>AIR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8EE4B8-5D73-4A9A-8241-DD68CBE5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2400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Strong absorption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→ high vacuum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D36352-91D5-40CE-873A-55DF8C4A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048250"/>
            <a:ext cx="266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5211A7-651D-4B6F-912D-59E0B133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048250"/>
            <a:ext cx="266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865C9B-1491-44BD-BB20-9AD83ABD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21970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750" b="1">
                <a:solidFill>
                  <a:srgbClr val="D94B4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94B4B"/>
                </a:solidFill>
                <a:latin typeface="Arial"/>
                <a:ea typeface="Arial"/>
                <a:cs typeface="Arial"/>
              </a:rPr>
              <a:t>TRANSMISSION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47D824-4225-4768-8B5D-EBF6D61C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524500"/>
            <a:ext cx="2400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Lens / transmissive mask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→ unusable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DD283D-72D4-4E75-9E14-ADB3553F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048250"/>
            <a:ext cx="266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3"/>
          </a:solidFill>
          <a:ln xmlns:a="http://schemas.openxmlformats.org/drawingml/2006/main" w="9525">
            <a:solidFill>
              <a:srgbClr val="0A2A4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838724-063E-430C-8C18-27385C8C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048250"/>
            <a:ext cx="266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4C4058-5F0D-4D99-A7A7-88942FAB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21970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750" b="1">
                <a:solidFill>
                  <a:srgbClr val="5BD0E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BD0E6"/>
                </a:solidFill>
                <a:latin typeface="Arial"/>
                <a:ea typeface="Arial"/>
                <a:cs typeface="Arial"/>
              </a:rPr>
              <a:t>REFLECTION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80431A-A866-400C-92B1-1B7FADA3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524500"/>
            <a:ext cx="2400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Mo/Si multilayer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mirror + mask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8F6DE7-E5FE-46BC-B366-3D224FD5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048250"/>
            <a:ext cx="266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3"/>
          </a:solidFill>
          <a:ln xmlns:a="http://schemas.openxmlformats.org/drawingml/2006/main" w="9525">
            <a:solidFill>
              <a:srgbClr val="0A2A4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E9A0D6-02F4-417D-89C5-9E6616B9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048250"/>
            <a:ext cx="266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9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5C5EA5-7671-43BA-8DE5-EDE7C251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21970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750" b="1">
                <a:solidFill>
                  <a:srgbClr val="5BD0E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BD0E6"/>
                </a:solidFill>
                <a:latin typeface="Arial"/>
                <a:ea typeface="Arial"/>
                <a:cs typeface="Arial"/>
              </a:rPr>
              <a:t>SYSTEM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1AD02E-6D11-4133-AFD7-E1EF5DB5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524500"/>
            <a:ext cx="2400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Entire optical path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redesigned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2766A1-1474-4C3C-AB7F-851EC059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86600"/>
            <a:ext cx="14020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6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ABD111-835C-4964-936B-E8DA726F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1356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흡수는 energy 소멸이 아니라 electron excitation · ionization · secondary electron · heat · chemical reaction으로의 전환이다.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5678323-4A14-4F60-B5DB-2BD6C5D3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80391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B8F1E8F-AC45-424C-AEFE-E2AB4CF9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1402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13" b="0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758493"/>
                </a:solidFill>
                <a:latin typeface="Arial"/>
                <a:ea typeface="Arial"/>
                <a:cs typeface="Arial"/>
              </a:rPr>
              <a:t>Reference · ASML · Lenses &amp; mirrors; EUV resist review · 92 eV photon / secondary electrons</a:t>
            </a:r>
          </a:p>
        </p:txBody>
      </p:sp>
    </p:spTree>
    <p:extLst>
      <p:ext uri="{BB962C8B-B14F-4D97-AF65-F5344CB8AC3E}">
        <p14:creationId xmlns:p14="http://schemas.microsoft.com/office/powerpoint/2010/main" val="16614283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227781F-923C-40B9-A656-53272B9C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EUV TRANSITION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40DC8A-42B3-487F-809A-6CDF0874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32385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09 /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A0779F-68B0-4D7F-B312-BC7BFF5E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4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FCC9F7E9-64F6-41DD-8FB8-C78C887A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402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EUV는 source부터 wafer까지 전 구간이 reflective optics in vacuum이다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8EF06C-C200-46FE-B0B6-DD06E639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4020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DEE6F4-C4C9-4E86-8BD3-A6D917DA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95475"/>
            <a:ext cx="1356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Sn plasma → Collector → Intermediate Focus → Illumination → Reflective mask → Projection → Wafer PR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2A65A1-CA4B-4D25-9718-E6EA48A5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457575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7E5B32-A87E-43D9-B3F5-967287FC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57575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6696E4-31C2-4D2B-9B0A-35522108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457575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F64EFB-853F-454D-A135-A03A6222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57575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058963-64B1-42BB-ACA6-5498CD14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57575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1B849A-50BD-42B9-AB83-B033BE5E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3457575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29A5F6-0928-43DC-9C0E-D875B97C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1428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3"/>
          </a:solidFill>
          <a:ln xmlns:a="http://schemas.openxmlformats.org/drawingml/2006/main" w="9525">
            <a:solidFill>
              <a:srgbClr val="0A2A4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65B0C8-6838-4B9A-870B-1D078540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1428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9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2F4F85-A322-4CBC-B01F-834CA398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750" b="1">
                <a:solidFill>
                  <a:srgbClr val="5BD0E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BD0E6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8AF20C-2BD0-40EB-A7B6-FBDACF64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11620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Sn plasma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EUV emission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47C9F5-1CC0-471A-AA0C-524D6E3A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00350"/>
            <a:ext cx="1428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3DA013-66D7-4B2C-AA7B-B0541AAA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00350"/>
            <a:ext cx="1428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94A5AD-1B86-4BD3-8ABD-1A86FF0C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71800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75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COLLECTOR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98A9E7-0A3D-4E26-A750-2802F954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276600"/>
            <a:ext cx="11620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Wide-angle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collection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785E5D-3B96-40BD-83D1-04A92AA3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00350"/>
            <a:ext cx="1428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9391F5-937A-4131-B995-2EAC6926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00350"/>
            <a:ext cx="1428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B64D0D-2353-49E3-9A8E-96F99624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71800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75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IF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9B0A99-9F06-4D8E-8AEE-D0F1977B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76600"/>
            <a:ext cx="11620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Intermediate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Focus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2EB33D-E6F8-42D6-93EE-A571A33E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00350"/>
            <a:ext cx="1428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F98D0D-DD42-4019-9FBA-2639BC9D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00350"/>
            <a:ext cx="1428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EE13E3-12EB-407E-B770-725580A4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71800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75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ILLUMINATION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8AB5B8-77D3-4946-A1C3-FDBD4EB7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11620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Angle · intensity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pupil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D4FFF4-292D-4A0B-8B61-A266EB43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00350"/>
            <a:ext cx="1428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3"/>
          </a:solidFill>
          <a:ln xmlns:a="http://schemas.openxmlformats.org/drawingml/2006/main" w="9525">
            <a:solidFill>
              <a:srgbClr val="0A2A4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A48528-5888-452C-8731-3AA4966E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00350"/>
            <a:ext cx="1428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9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250248-4DFC-4EDE-B377-E69C9DBC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71800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750" b="1">
                <a:solidFill>
                  <a:srgbClr val="5BD0E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BD0E6"/>
                </a:solidFill>
                <a:latin typeface="Arial"/>
                <a:ea typeface="Arial"/>
                <a:cs typeface="Arial"/>
              </a:rPr>
              <a:t>MASK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5B105D-4399-4807-BB0B-33BC8DC4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76600"/>
            <a:ext cx="11620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Reflective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pattern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B6A8B2-49B6-4A1B-9B7D-4D261C57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800350"/>
            <a:ext cx="16764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6F6745-8D3F-4CB6-8234-0A5FD9F6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800350"/>
            <a:ext cx="1676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7123E3-4F7F-42CF-825D-9B2B1491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97180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75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PROJECTION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99D32E-2E23-41AD-B17D-C3756313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76600"/>
            <a:ext cx="1409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Mirror train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demagnification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890B76-12A2-4FE0-9380-AB7B3E16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800350"/>
            <a:ext cx="2457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3"/>
          </a:solidFill>
          <a:ln xmlns:a="http://schemas.openxmlformats.org/drawingml/2006/main" w="9525">
            <a:solidFill>
              <a:srgbClr val="0A2A4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1B59DD-F713-4F5C-9A1C-4E45E0E5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800350"/>
            <a:ext cx="2457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845492-90EC-4A63-8869-4DD56B46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29718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750" b="1">
                <a:solidFill>
                  <a:srgbClr val="5BD0E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BD0E6"/>
                </a:solidFill>
                <a:latin typeface="Arial"/>
                <a:ea typeface="Arial"/>
                <a:cs typeface="Arial"/>
              </a:rPr>
              <a:t>WAFER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91078E-F154-41D5-8628-EC923739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32766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PR records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projected image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68E50A-5749-447F-B199-7817E2C2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51054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56A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00E5898-FFF5-45DE-A234-BC645FB8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869289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ROLES ARE NOT INTERCHANGEABLE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0FBA75B-7CD2-461B-B75D-E417A708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191125"/>
            <a:ext cx="630936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각 요소의 역할 분리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F5F240E-8189-4F24-B82D-A2CED861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33337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5A927BD-0CD9-4FDD-A1F5-BEA537F1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9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3A7F10B-961A-4498-BD3A-B2DC35E9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95950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COLLECTOR MIRROR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ACCD003-345E-435F-9BC2-C7F41EEB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81700"/>
            <a:ext cx="29908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Sn plasma가 여러 방향으로 내는 EUV를 모아 optical system으로 넘긴다.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900AA9A-D8E1-4655-8A2D-B5E39AED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562600"/>
            <a:ext cx="33337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31D7284-70FD-4A24-8323-83CDD6FC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562600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2EA4B85-1084-486F-BDAB-360DC8D0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695950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ILLUMINATION OPTICS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45D58BB-A380-4E53-9F3E-4ECA70AC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981700"/>
            <a:ext cx="29908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Reticle에 들어가는 angle · intensity · pupil condition을 형성한다.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CDAA3D1-E604-46CC-9E62-B9B38E39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562600"/>
            <a:ext cx="33337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8B8B94F-322C-4550-A1D4-54332189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562600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9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7B6B30D-A601-4926-B874-0FCB1062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695950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REFLECTIVE MASK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6CE8450-5585-4923-8DFA-539EB824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981700"/>
            <a:ext cx="29908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Mo/Si reflector 위 absorber pattern으로 반사광에 pattern 정보를 싣는다.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68F82BF-7451-4FE9-A618-6EB174FF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5562600"/>
            <a:ext cx="33337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080EAD4-D1F1-456F-8F8C-6DF0B4F5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5562600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CF381B9-1011-4E28-A55C-137BDDA9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5695950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PROJECTION OPTICS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F238927-BB7D-4FC2-996F-43F1DCC7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5981700"/>
            <a:ext cx="29908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Mask 이후 mirror system이 pattern image를 wafer PR에 축소 투영한다.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8816D1E-EFDC-483D-A046-E995E118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05700"/>
            <a:ext cx="1402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D94B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4B4B"/>
                </a:solidFill>
                <a:latin typeface="Arial"/>
                <a:ea typeface="Arial"/>
                <a:cs typeface="Arial"/>
              </a:rPr>
              <a:t>Reflective mask ≠ projection mirror     ·     Collector ≠ illumination optics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9F555A9-BBE4-4A21-81AA-4A6B31FC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80391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2F7B340-0901-4392-8805-0B5857AF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1402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13" b="0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758493"/>
                </a:solidFill>
                <a:latin typeface="Arial"/>
                <a:ea typeface="Arial"/>
                <a:cs typeface="Arial"/>
              </a:rPr>
              <a:t>Reference · ASML · EUV lithography systems; ASML · Lenses &amp; mirrors; imec · High-NA EUVL</a:t>
            </a:r>
          </a:p>
        </p:txBody>
      </p:sp>
    </p:spTree>
    <p:extLst>
      <p:ext uri="{BB962C8B-B14F-4D97-AF65-F5344CB8AC3E}">
        <p14:creationId xmlns:p14="http://schemas.microsoft.com/office/powerpoint/2010/main" val="5422518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5400ECB-21D4-4E86-AED5-562EB3D0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EUV REFLECTIVE OPTICS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5D3C67-4393-4170-9D78-2B057463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32385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10 /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A50FFC-2D4F-4F1C-A76E-522C952A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COATING ≠ MAGNIFICATION</a:t>
            </a:r>
          </a:p>
        </p:txBody>
      </p:sp>
      <p:sp>
        <p:nvSpPr>
          <p:cNvPr id="4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7709716D-4EF3-4402-A373-CC1DAD26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402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Mo/Si는 반사 coating이고, mirror geometry가 image를 만든다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5F48E8-0D1E-484F-9E3C-FC972972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1714500"/>
            <a:ext cx="634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56A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1AE8B7-0D88-498A-99B9-038F1165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393306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MO/SI MULTILAYER COATING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2A0209-055F-4D1B-A363-247ED714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608" y="1800225"/>
            <a:ext cx="285464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13.5 NM REFLECTIVITY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FB43A6-D353-4C7C-ABF8-7B5F0539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63436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A37A9B-AD83-47C6-8736-83396022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57450"/>
            <a:ext cx="4095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ED8B3C-E14D-455F-87A2-71493D14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47925"/>
            <a:ext cx="609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456A0"/>
                </a:solidFill>
                <a:latin typeface="Arial"/>
                <a:ea typeface="Arial"/>
                <a:cs typeface="Arial"/>
              </a:rPr>
              <a:t>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994B3C-4FD1-4337-B650-C1156407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05100"/>
            <a:ext cx="4095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032097-3B87-4CED-93B7-E5D8B359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695575"/>
            <a:ext cx="609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58493"/>
                </a:solidFill>
                <a:latin typeface="Arial"/>
                <a:ea typeface="Arial"/>
                <a:cs typeface="Arial"/>
              </a:rPr>
              <a:t>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874140-6BF1-4128-976A-ADE6BBCA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52750"/>
            <a:ext cx="4095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1A578B-A3B5-4A4B-8EF9-2E3E9930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43225"/>
            <a:ext cx="609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456A0"/>
                </a:solidFill>
                <a:latin typeface="Arial"/>
                <a:ea typeface="Arial"/>
                <a:cs typeface="Arial"/>
              </a:rPr>
              <a:t>Mo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E5EB38-C8C6-4A51-8E0A-744A0A39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00400"/>
            <a:ext cx="4095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67DE8F-F370-4BA9-9D37-96BDDB9C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190875"/>
            <a:ext cx="609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58493"/>
                </a:solidFill>
                <a:latin typeface="Arial"/>
                <a:ea typeface="Arial"/>
                <a:cs typeface="Arial"/>
              </a:rPr>
              <a:t>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33BC39-097D-4998-BE84-799C7E78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48050"/>
            <a:ext cx="4095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3789B1-A2CC-4FD9-9841-FF1E18D9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438525"/>
            <a:ext cx="609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456A0"/>
                </a:solidFill>
                <a:latin typeface="Arial"/>
                <a:ea typeface="Arial"/>
                <a:cs typeface="Arial"/>
              </a:rPr>
              <a:t>Mo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7B1595-616F-43F1-A95F-E719E404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95700"/>
            <a:ext cx="4095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BD301A-BB5C-467B-9E6D-9CC7A317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686175"/>
            <a:ext cx="609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58493"/>
                </a:solidFill>
                <a:latin typeface="Arial"/>
                <a:ea typeface="Arial"/>
                <a:cs typeface="Arial"/>
              </a:rPr>
              <a:t>Si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161683-37A5-48A5-B044-5EF074EC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43350"/>
            <a:ext cx="4095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D9BE39-1A37-4E4A-A1FA-5A3CD2FB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933825"/>
            <a:ext cx="609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456A0"/>
                </a:solidFill>
                <a:latin typeface="Arial"/>
                <a:ea typeface="Arial"/>
                <a:cs typeface="Arial"/>
              </a:rPr>
              <a:t>Mo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449382-6081-4BA7-A521-DEE558C2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91000"/>
            <a:ext cx="4095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1AB797-BC4C-4CD8-9010-F56D2EA2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181475"/>
            <a:ext cx="609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58493"/>
                </a:solidFill>
                <a:latin typeface="Arial"/>
                <a:ea typeface="Arial"/>
                <a:cs typeface="Arial"/>
              </a:rPr>
              <a:t>Si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A306A2-A53D-4061-9D6F-CFA714BB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38650"/>
            <a:ext cx="4095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7E7CCD-CB89-46D6-95D7-A5A92FA1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429125"/>
            <a:ext cx="609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456A0"/>
                </a:solidFill>
                <a:latin typeface="Arial"/>
                <a:ea typeface="Arial"/>
                <a:cs typeface="Arial"/>
              </a:rPr>
              <a:t>Mo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B47326-2B9A-4439-8F49-87CC3EF8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86300"/>
            <a:ext cx="4095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624CEC-4508-47D0-8AB9-2C9C9F62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676775"/>
            <a:ext cx="609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58493"/>
                </a:solidFill>
                <a:latin typeface="Arial"/>
                <a:ea typeface="Arial"/>
                <a:cs typeface="Arial"/>
              </a:rPr>
              <a:t>Si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C2ABF5-6AF0-4064-99C7-8EE9DFFD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33950"/>
            <a:ext cx="4095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AF40A3-60F3-4095-9282-7E743939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924425"/>
            <a:ext cx="609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456A0"/>
                </a:solidFill>
                <a:latin typeface="Arial"/>
                <a:ea typeface="Arial"/>
                <a:cs typeface="Arial"/>
              </a:rPr>
              <a:t>Mo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DD10DE-021C-439D-828A-3C8F7C96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81600"/>
            <a:ext cx="4095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6FB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0FA443-E753-4151-94C8-766C06B5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72075"/>
            <a:ext cx="609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58493"/>
                </a:solidFill>
                <a:latin typeface="Arial"/>
                <a:ea typeface="Arial"/>
                <a:cs typeface="Arial"/>
              </a:rPr>
              <a:t>Si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60F7CC-2FE5-4457-BEF5-2C20F0A1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9650" y="2457450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8C3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81B867-F7A0-415F-BC73-FD7883E4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95350" y="245745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8C3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DD7626-8376-44AC-B774-60A7F3C6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95350" y="294322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8C3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42D8F5-E57D-4C2C-B7DD-8ADB044F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E78C3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E78C35"/>
                </a:solidFill>
                <a:latin typeface="Arial"/>
                <a:ea typeface="Arial"/>
                <a:cs typeface="Arial"/>
              </a:rPr>
              <a:t>1 period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8FEEEE-F6F0-41A1-B5C9-77139C10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007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d = tMo + tSi ≈ 6.9 nm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A786ACE-960B-47D3-823D-0AD52EBD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67450"/>
            <a:ext cx="588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E78C3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78C35"/>
                </a:solidFill>
                <a:latin typeface="Apple SD Gothic Neo"/>
                <a:ea typeface="Apple SD Gothic Neo"/>
                <a:cs typeface="Apple SD Gothic Neo"/>
              </a:rPr>
              <a:t>6.9 nm는 Mo 한 층이 아니라 Mo+Si pair의 반복 두께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B84FEAB-F8C0-4402-A51C-6288465F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48550" y="1714500"/>
            <a:ext cx="718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56A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9907707-C845-45A5-AAF6-B0A7162A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800225"/>
            <a:ext cx="4452747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MIRROR FIGURE &amp; OPTICAL GEOMETRY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F6B4AB-4C4E-4192-BF82-BDB8267E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8568" y="1800225"/>
            <a:ext cx="323183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FOCUS · ABERRATION · MAGNIFICATION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FC47207-3085-47AF-89BE-0BC29A5F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71818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FBD991C-EB9F-4A0C-A3B4-A6C8F6DE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096250" y="3143250"/>
            <a:ext cx="1238250" cy="1600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BD0E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D8F8245-E5C5-46F1-A60B-D29BFD66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334500" y="3143250"/>
            <a:ext cx="1714500" cy="100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BD0E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5718E08-B33F-4A4A-81E8-62D9615B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049000" y="2895600"/>
            <a:ext cx="1657350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BD0E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8BF89DF-85ED-414F-87E2-17CA37B1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706350" y="2895600"/>
            <a:ext cx="1352550" cy="2152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BD0E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D951F56-0142-4636-8EE0-70247562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765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19050">
            <a:solidFill>
              <a:srgbClr val="5BD0E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30F8710-1033-4179-A436-97DD4058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8195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19050">
            <a:solidFill>
              <a:srgbClr val="5BD0E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478F9D7-25FA-4940-BF54-9E0520DA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26098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19050">
            <a:solidFill>
              <a:srgbClr val="5BD0E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13E104B-1034-43CF-B21B-718F48F8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5146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5BD0E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D0E6"/>
                </a:solidFill>
                <a:latin typeface="Arial"/>
                <a:ea typeface="Arial"/>
                <a:cs typeface="Arial"/>
              </a:rPr>
              <a:t>CURVATURE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65F7346-2C3E-4ABC-8079-ECF25D56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8194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Focusing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6F47A58-1FD6-454A-AC83-1467A18C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4671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5BD0E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D0E6"/>
                </a:solidFill>
                <a:latin typeface="Arial"/>
                <a:ea typeface="Arial"/>
                <a:cs typeface="Arial"/>
              </a:rPr>
              <a:t>POSITION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208E324-C42E-4449-95D6-77FBB4E0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7719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Aberration correction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9E7B278-2F40-4F83-8498-736D6211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4386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5BD0E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D0E6"/>
                </a:solidFill>
                <a:latin typeface="Arial"/>
                <a:ea typeface="Arial"/>
                <a:cs typeface="Arial"/>
              </a:rPr>
              <a:t>ARRANGEMENT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03F2937-A9BD-4164-9600-0568AFC8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743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Demagnification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69F9AC8-9E43-427D-A391-A2A692F8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219700"/>
            <a:ext cx="4133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425" b="0">
                <a:solidFill>
                  <a:srgbClr val="D7E0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7E0E8"/>
                </a:solidFill>
                <a:latin typeface="Arial"/>
                <a:ea typeface="Arial"/>
                <a:cs typeface="Arial"/>
              </a:rPr>
              <a:t>Coating lets EUV survive each reflection.</a:t>
            </a:r>
          </a:p>
          <a:p xmlns:a="http://schemas.openxmlformats.org/drawingml/2006/main">
            <a:pPr algn="r">
              <a:lnSpc>
                <a:spcPct val="115000"/>
              </a:lnSpc>
              <a:buNone/>
              <a:defRPr sz="1425" b="0">
                <a:solidFill>
                  <a:srgbClr val="D7E0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7E0E8"/>
                </a:solidFill>
                <a:latin typeface="Arial"/>
                <a:ea typeface="Arial"/>
                <a:cs typeface="Arial"/>
              </a:rPr>
              <a:t>Geometry determines where the image goes.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1FE0E87-68FD-484D-A6F0-ECF7A0D5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419850"/>
            <a:ext cx="7181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6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5007944-2315-4467-8876-74FC78E9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619875"/>
            <a:ext cx="672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1456A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456A0"/>
                </a:solidFill>
                <a:latin typeface="Apple SD Gothic Neo"/>
                <a:ea typeface="Apple SD Gothic Neo"/>
                <a:cs typeface="Apple SD Gothic Neo"/>
              </a:rPr>
              <a:t>Optical coating period는 wafer circuit pitch와 아무 관련이 없다.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E2AD550-F775-4C4F-86D5-8107249A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80391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5084281-F989-44D1-8BCE-63486B5A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1402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13" b="0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758493"/>
                </a:solidFill>
                <a:latin typeface="Arial"/>
                <a:ea typeface="Arial"/>
                <a:cs typeface="Arial"/>
              </a:rPr>
              <a:t>Reference · Montcalm et al., SPIE 3331 (1998), DOI 10.1117/12.309600; imec · EUV mask stack</a:t>
            </a:r>
          </a:p>
        </p:txBody>
      </p:sp>
    </p:spTree>
    <p:extLst>
      <p:ext uri="{BB962C8B-B14F-4D97-AF65-F5344CB8AC3E}">
        <p14:creationId xmlns:p14="http://schemas.microsoft.com/office/powerpoint/2010/main" val="7860420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564C49F-45F3-4F5E-A1B9-5D4682FB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EUV REFLECTIVE OPTICS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C4FD6A-E2E9-4591-8CA9-BEA46293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32385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11 /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984BAA-8916-4383-8B27-D8ABF2F9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BRAGG-LIKE CONSTRUCTIVE INTERFERENCE</a:t>
            </a:r>
          </a:p>
        </p:txBody>
      </p:sp>
      <p:sp>
        <p:nvSpPr>
          <p:cNvPr id="4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2A4EC935-97F9-40C4-86CE-F2FDCD1B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402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Mo/Si interface의 약한 반사가 같은 phase로 겹쳐 강해진다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FE2C87-ECB4-44D0-A388-35873B90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169545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56A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7A92E0-85C6-4ABD-B28A-60977B43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549211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GEOMETRY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4F586F-BA5B-4110-B793-005F6C8F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1638" y="1781175"/>
            <a:ext cx="398621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Θ = GLANCING ANGLE TO MULTILAYER PLANE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C74FAF-A828-4AD5-BFE9-A4540FBE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8858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5C6DA7-15EB-431B-A51E-7DD31911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8858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6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393880-42C6-4506-A26D-8953D36D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8858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4CE80E-9205-4137-8F08-DC12E1DA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8858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6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28BD73-E32C-4173-8C9D-2B49AD60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8858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04ABE1-4A11-4F95-8B93-DAFDC4C7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8858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6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57D51A-F5E5-44AD-83F8-8A9B9C7F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57450" y="2628900"/>
            <a:ext cx="2305050" cy="2943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456A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E32DCE-A122-453C-8A8B-6C7A2458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762500" y="2628900"/>
            <a:ext cx="2305050" cy="2943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456A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C1D6E1-CB90-466A-9478-32D6418F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38550" y="2628900"/>
            <a:ext cx="2228850" cy="3133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A9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B4BFB7-E172-4961-B39E-B6778070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867400" y="2628900"/>
            <a:ext cx="2228850" cy="3133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A9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5D5C95-2A26-40E7-9B1E-5FA4AF8C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62500" y="5572125"/>
            <a:ext cx="110490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8C35"/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2E2E1C-D051-4FFD-939B-E4B44E57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324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56A0"/>
                </a:solidFill>
                <a:latin typeface="Arial"/>
                <a:ea typeface="Arial"/>
                <a:cs typeface="Arial"/>
              </a:rPr>
              <a:t>wave 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826E22-C875-429C-81F8-CBDEDD6E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24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6A9CF"/>
                </a:solidFill>
                <a:latin typeface="Arial"/>
                <a:ea typeface="Arial"/>
                <a:cs typeface="Arial"/>
              </a:rPr>
              <a:t>wave 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622E76-457B-4391-A3B2-CFAD774C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815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E78C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78C35"/>
                </a:solidFill>
                <a:latin typeface="Arial"/>
                <a:ea typeface="Arial"/>
                <a:cs typeface="Arial"/>
              </a:rPr>
              <a:t>d sinθ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570BC2-3C9C-4AFA-A472-FBE50A99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9582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E78C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78C35"/>
                </a:solidFill>
                <a:latin typeface="Arial"/>
                <a:ea typeface="Arial"/>
                <a:cs typeface="Arial"/>
              </a:rPr>
              <a:t>+ d sinθ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2B36AC-1E58-48C6-BC1F-187229B4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62500" y="5572125"/>
            <a:ext cx="129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58493"/>
            </a:solidFill>
            <a:prstDash val="dash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71D014-4FB2-4B31-B950-FECE3787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238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BA2950-F1E9-4131-AD32-10618D69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67550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Path difference = 2d sinθ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8C5758-90C5-4965-9598-5AEF0717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63150" y="169545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56A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AC0D50-5EBA-4872-B2F4-B0C3BAF9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781175"/>
            <a:ext cx="289369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CONDITION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4D579D-A864-4537-BC9C-8EF13310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0138" y="1781175"/>
            <a:ext cx="210026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SAME PHASE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89ED32-FD99-4FB1-A948-2BD1BCEF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171700"/>
            <a:ext cx="4667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116521-72F9-495A-A51C-2CABF89C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495550"/>
            <a:ext cx="421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57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mλ = 2d sinθ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3192FA-30A9-476B-A9F8-F497A5A9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067050"/>
            <a:ext cx="421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5BD0E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D0E6"/>
                </a:solidFill>
                <a:latin typeface="Arial"/>
                <a:ea typeface="Arial"/>
                <a:cs typeface="Arial"/>
              </a:rPr>
              <a:t>θ: beam ↔ multilayer plane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92C55F-AA06-492C-BE69-8303BA77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752850"/>
            <a:ext cx="4667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6FA013-1632-4EB9-B1AC-F15AE674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7528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9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A8303C-ED4B-4027-B796-80615C6E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886200"/>
            <a:ext cx="432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ANGLE CONVENTION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FA911E-7ACD-48DC-896F-0845893E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171950"/>
            <a:ext cx="4324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Surface-normal angle α를 쓰면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mλ = 2d cosα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F83E07-F73C-49C0-9B75-0B239D38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5219700"/>
            <a:ext cx="4667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3BE0DA-B6BB-4A98-91C2-4958546E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521970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CFD439-B8E3-4BEB-A83F-DADA8356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353050"/>
            <a:ext cx="432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NEAR-NORMAL INTUITION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37694D7-E76E-4CB9-B208-143D16A1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638800"/>
            <a:ext cx="4324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d ≈ λ / 2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13.5 / 2 ≈ 6.75 nm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2C0CA29-CB8F-4DB1-A124-5F613149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781800"/>
            <a:ext cx="466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75849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58493"/>
                </a:solidFill>
                <a:latin typeface="Apple SD Gothic Neo"/>
                <a:ea typeface="Apple SD Gothic Neo"/>
                <a:cs typeface="Apple SD Gothic Neo"/>
              </a:rPr>
              <a:t>실제 ≈ 6.9 nm는 optical constants · absorption · phase shift · interface structure를 반영한 optimized period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8E3A41-5AAC-4B06-8812-D2E45F3A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80391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EC70986-5F28-46D9-8E9A-00D19AFF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1402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13" b="0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758493"/>
                </a:solidFill>
                <a:latin typeface="Arial"/>
                <a:ea typeface="Arial"/>
                <a:cs typeface="Arial"/>
              </a:rPr>
              <a:t>Reference · Underwood &amp; Barbee, Applied Optics 20 (1981), DOI 10.1364/AO.20.003027; Montcalm et al. (1998)</a:t>
            </a:r>
          </a:p>
        </p:txBody>
      </p:sp>
    </p:spTree>
    <p:extLst>
      <p:ext uri="{BB962C8B-B14F-4D97-AF65-F5344CB8AC3E}">
        <p14:creationId xmlns:p14="http://schemas.microsoft.com/office/powerpoint/2010/main" val="15169622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EE7590-8507-425C-A6E7-D21CDC33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EUV REFLECTIVE OPTICS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6DA013-7217-48AB-998F-05954083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32385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12 /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A658F2-880F-4091-95E2-E4D2F967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HISTORICAL CONTEXT</a:t>
            </a:r>
          </a:p>
        </p:txBody>
      </p:sp>
      <p:sp>
        <p:nvSpPr>
          <p:cNvPr id="4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35759A0A-A6B1-43D6-9296-0452695C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402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EUV mirror는 수십 년의 thin-film·interface·optical theory가 만든 기술이다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5995D2-B61D-44F8-B8B3-7C46C67E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" y="4324350"/>
            <a:ext cx="12801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7E0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2A0712-0CAE-4E90-953C-7CA09EC4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2005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8493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01A053-FDC6-4D74-992A-1778F127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524000" y="3552825"/>
            <a:ext cx="0" cy="657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5849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E99997-F322-406D-AEA1-6410A9AA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1972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A5D78E-8F70-458F-AA57-E53D142F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289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675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DESIGN PRINCIPLE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73E6A4-ED85-407F-80A9-4DED212F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952750"/>
            <a:ext cx="2514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Spiller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Low-loss reflection coatings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D9CCC5-A641-4195-AC3F-EB849D01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2005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C99155-46BF-4C71-AF9A-223C1C81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76750" y="44386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56A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A0A728-D502-4A82-AD7F-9C584F94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1490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1980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CE3D99-80E7-44C1-BEDD-7A5AEA37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3530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67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CONTROLLED FABRICATION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7EA396-0153-44A4-BFD9-72E83DC5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676900"/>
            <a:ext cx="2514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Spiller et al.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soft-X-ray mirrors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72D254-D389-4352-9986-1363C646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2005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9C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3385DC-23AC-4B8B-A7E9-1F3A05E5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429500" y="3552825"/>
            <a:ext cx="0" cy="657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A9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0C1C54-42F4-4AE0-92C6-1B8221F0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9075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1981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972E2F-5C10-4D29-B6B2-2D9A36CD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289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675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THEORY FORMALIZED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32CF8A-6CC8-47AA-ACF0-6E6DCF5C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52750"/>
            <a:ext cx="2514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Underwood &amp; Barbee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Bragg diffractors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2D9D05-CDB5-4F25-99F5-D2B7AAB8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42005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3A2C28-7A55-4DC1-9F74-4067891D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382250" y="44386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56A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708D84-5AAC-4B13-A0D0-D1182B2E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91490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1998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884EEE-BEF1-4A6B-98A6-EC3CBC6D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3530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67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EUVL PERFORMANCE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CF48ED-9F26-4BC2-AC54-90CAA017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676900"/>
            <a:ext cx="2514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Montcalm et al.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≈67.5% @ 13.4 nm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397DDF-ED52-4748-BDC7-8EBA7039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1175" y="42005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9C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602B9A-5B3F-4688-B437-3DD3A07D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3335000" y="3552825"/>
            <a:ext cx="0" cy="657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A9C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9FC7E6-7854-460A-B4C4-33C7C57F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219075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2001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5DE3D5-22E9-4234-8D40-E3C63C59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6289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675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INTERFACE ENGINEERING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721798-DCCD-44DF-8AB0-CCADB261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2952750"/>
            <a:ext cx="2514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Bajt et al.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≈70% @ 13.5 nm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1A4CDC-0169-48B5-AA49-493B7E73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0"/>
            <a:ext cx="14020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DBFD4A-8989-4D4D-B434-D86034D5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067550"/>
            <a:ext cx="13449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어느 날 갑자기 등장한 거울이 아니라, weak interface reflection을 제조 가능한 multilayer mirror로 바꾼 누적 혁신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E07BD7-9D6F-4621-B6EE-E9BA76E1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80391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BBD01D-FF5C-4387-AE5B-15D0B9E3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1402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13" b="0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758493"/>
                </a:solidFill>
                <a:latin typeface="Arial"/>
                <a:ea typeface="Arial"/>
                <a:cs typeface="Arial"/>
              </a:rPr>
              <a:t>Reference · Spiller 1972 · 10.1063/1.1654189 | Spiller et al. 1980 · 10.1063/1.91759 | Underwood &amp; Barbee 1981 · 10.1364/AO.20.003027 | Montcalm 1998 · 10.1117/12.309600 | Bajt 2001 · 10.1117/12.450946</a:t>
            </a:r>
          </a:p>
        </p:txBody>
      </p:sp>
    </p:spTree>
    <p:extLst>
      <p:ext uri="{BB962C8B-B14F-4D97-AF65-F5344CB8AC3E}">
        <p14:creationId xmlns:p14="http://schemas.microsoft.com/office/powerpoint/2010/main" val="17323205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4849B2-2495-4B8B-B265-B278CF77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EUV SOURCE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8EED1D-681D-4EFB-87A4-76B0A128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32385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13 /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47C294-8073-4D18-9B43-D86C7DD7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SOURCE FUEL ≠ OPTICAL COATING</a:t>
            </a:r>
          </a:p>
        </p:txBody>
      </p:sp>
      <p:sp>
        <p:nvSpPr>
          <p:cNvPr id="4" name="slide-13-title">
            <a:extLst xmlns:a="http://schemas.openxmlformats.org/drawingml/2006/main">
              <a:ext uri="{FF2B5EF4-FFF2-40B4-BE49-F238E27FC236}">
                <a16:creationId xmlns:a16="http://schemas.microsoft.com/office/drawing/2014/main" id="{6AE670B7-9A78-4C2E-BFC5-5AE17988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402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Sn은 photon을 만들고, Mo/Si는 만들어진 photon을 반사한다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19ADD4-8E17-4B68-8DB6-FD8D4D6D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4020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871D45-0A08-4799-8902-567C5122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1356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Sn  →  highly ionized plasma  →  13.5 nm photon  →  Mo/Si optics  →  scanner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F7ADDF-8372-4166-919A-F0409BDA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3028950"/>
            <a:ext cx="674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56A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5D2349-4BD6-4439-95FA-DA628AB0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4181094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SN · SOURCE FUEL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F39184-6799-41C5-B175-B04B8521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635" y="3114675"/>
            <a:ext cx="303466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PHOTON GENERATION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BB1EB2-7FD5-4798-95B2-4B43AFDD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67437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F317EF-4D1E-4D39-B4C8-1A2F74B7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4762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9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0D2EB4-5EAE-49DC-9DED-4BD99EFC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640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WHY SN?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E41B40-7C77-4C58-8757-292420DC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6400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Highly ionized plasma가 13.5 nm 근처에 강한 emission을 만들고, Mo/Si reflective band와 정합된다.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CF57A4-381B-40FD-BE7D-28B8791B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67437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B1DE2E-58F0-4BBF-805A-72553904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4A6C20-6E7A-49A7-B1FB-7AE7452A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640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HISTORICAL CHOICE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995311-7C3A-4B36-B7B8-C4141BEE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53100"/>
            <a:ext cx="6400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초기 후보에는 Xe · Li · Sn 등이 있었다. HVM source power와 conversion-efficiency development를 거치며 Sn LPP가 주류가 됐다.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47C495-84B6-4E6A-885E-5F6009DA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86700" y="3028950"/>
            <a:ext cx="674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56A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6F86B9-37C9-4E5E-8BAC-47EA08DF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14675"/>
            <a:ext cx="4181094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MO/SI · OPTICAL COATING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7C34AB-5ABE-4C55-BC70-CFEDD539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5735" y="3114675"/>
            <a:ext cx="303466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PHOTON TRANSPORT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E73E6B-63A4-4AA6-9418-F4250E22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05200"/>
            <a:ext cx="67437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D46C60-412F-4925-92C2-EC3DEA6C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05200"/>
            <a:ext cx="4762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7ADEA0-FD2D-4225-AC47-B9FE2FB3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38550"/>
            <a:ext cx="640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WHAT MO/SI DOES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388443-96E4-4AC1-84FD-04B864F4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24300"/>
            <a:ext cx="6400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이미 생성된 13.5 nm EUV를 각 mirror surface에서 최대한 보존해 다음 optical element로 전달한다.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834009-DA5E-42A8-8296-8F60DEE9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334000"/>
            <a:ext cx="67437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BDC751-BC2B-4715-ADE0-6D4CD627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334000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BA2E16-B660-4A7B-BF04-E8AE985C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467350"/>
            <a:ext cx="640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E78C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E78C35"/>
                </a:solidFill>
                <a:latin typeface="Arial"/>
                <a:ea typeface="Arial"/>
                <a:cs typeface="Arial"/>
              </a:rPr>
              <a:t>SN TRADE-OFF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5CDE46-C2EF-4C43-90AA-52BFFF4E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753100"/>
            <a:ext cx="6400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Metal debris · vapor · collector contamination → mass-limited droplet, debris mitigation, collector protection이 source architecture의 핵심이 된다.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F1BC47-57FB-4BE6-9153-0D400B27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10450"/>
            <a:ext cx="1402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0">
                <a:solidFill>
                  <a:srgbClr val="75849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58493"/>
                </a:solidFill>
                <a:latin typeface="Apple SD Gothic Neo"/>
                <a:ea typeface="Apple SD Gothic Neo"/>
                <a:cs typeface="Apple SD Gothic Neo"/>
              </a:rPr>
              <a:t>Sn 효율을 Xe 대비 ‘5–10×’로 단정하지 않는다: 여기서는 검증된 primary source가 뒷받침하는 정성 비교만 사용한다.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1E32E6-0101-4CE7-A7D6-0A64DB1F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80391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2A7586-9D14-4D72-B050-35F31740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1402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13" b="0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758493"/>
                </a:solidFill>
                <a:latin typeface="Arial"/>
                <a:ea typeface="Arial"/>
                <a:cs typeface="Arial"/>
              </a:rPr>
              <a:t>Reference · J. Optics · EUV source material review (2022); JMM · LPP source technology; AIP · Sn debris mitigation</a:t>
            </a:r>
          </a:p>
        </p:txBody>
      </p:sp>
    </p:spTree>
    <p:extLst>
      <p:ext uri="{BB962C8B-B14F-4D97-AF65-F5344CB8AC3E}">
        <p14:creationId xmlns:p14="http://schemas.microsoft.com/office/powerpoint/2010/main" val="21667696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5732E35-021A-49DE-A0F7-92C839B4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EUV SOURCE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861C4C-CB57-4C37-B548-F3411E65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32385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14 /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6569FC-42B1-41E9-B50E-5F826C09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SN LASER-PRODUCED PLASMA</a:t>
            </a:r>
          </a:p>
        </p:txBody>
      </p:sp>
      <p:sp>
        <p:nvSpPr>
          <p:cNvPr id="4" name="slide-14-title">
            <a:extLst xmlns:a="http://schemas.openxmlformats.org/drawingml/2006/main">
              <a:ext uri="{FF2B5EF4-FFF2-40B4-BE49-F238E27FC236}">
                <a16:creationId xmlns:a16="http://schemas.microsoft.com/office/drawing/2014/main" id="{375763A1-AC5B-4210-BE43-33DE2F89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402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Droplet 하나는 shaping·plasma·emission을 거쳐 EUV pulse가 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BADD9C-CD93-41FE-B53F-33D2CDE6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3718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D68105-3910-4346-B056-549717FC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718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155C97-0D8F-4FE6-BB29-1F493F87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3718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8EDEDB-6F7C-4CC3-81CE-30E47030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718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2665F2-EBFF-4566-9372-4E2AAC64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718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3CCAAD-6E9D-449F-9291-86BDCAD5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3718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BBCCB6-6D78-4931-8D46-7E7F8D22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3718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32B141-9816-4289-AFAB-A9D51133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13525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D3A126-A5B4-4084-A5E7-25D5ADD2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67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46B42F-A93D-4163-9783-A3966BAD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76575"/>
            <a:ext cx="1162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Molten Sn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60E0D6-C8FE-4390-A7BD-F4FA85BE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290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38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droplet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938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generation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002698-D700-46CC-9648-1D9587AC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28900"/>
            <a:ext cx="13525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673B50-0E2C-4959-A4C3-84C9FB2E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622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67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1EC6D3-9240-448A-9901-18AD26F6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076575"/>
            <a:ext cx="1162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Moving target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33F9DE-1AA2-41F8-A52A-02B3D6B2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290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38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fast droplet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582257-331F-4D57-9A5F-ADC0CF49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28900"/>
            <a:ext cx="13525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9E1BE5-3CAF-4607-95F4-46EB9D96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622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675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50101E-2825-4E86-95D6-64B966BA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76575"/>
            <a:ext cx="1162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Pre-pulse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D42673-5E8D-4672-A01E-D8EF0775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290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38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pancake /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938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expanded target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0237A0-17D0-44BA-9B3E-0E62F17C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28900"/>
            <a:ext cx="13525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CA7675-A50B-46E6-A333-38B9E899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622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675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7F64A2-7543-4B85-ACDA-2193F0B7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76575"/>
            <a:ext cx="1162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Main pulse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12DD6B-3DF6-4859-A172-3132187E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290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38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high-power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938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CO₂ laser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CE0973-9D99-42D9-8DC5-26E0385B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28900"/>
            <a:ext cx="13525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2091D7-E249-4611-9808-0D8EE8FF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622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675" b="1">
                <a:solidFill>
                  <a:srgbClr val="E78C35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E78C3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777590-8F77-43B8-B80C-CDF5F7C2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76575"/>
            <a:ext cx="1162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E78C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78C35"/>
                </a:solidFill>
                <a:latin typeface="Arial"/>
                <a:ea typeface="Arial"/>
                <a:cs typeface="Arial"/>
              </a:rPr>
              <a:t>Plasma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CAF80F-186B-44B2-8858-17A4CA91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290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38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vaporization +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938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ionization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BB527D-5AEB-44E9-98CE-51041950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628900"/>
            <a:ext cx="13525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149C85-1E1C-4EA1-AF35-E7C850BD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7622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67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D27997-147D-40AB-998C-0C1AFF62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76575"/>
            <a:ext cx="1162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Emission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262A17-1E55-4EB8-9DAD-408E3C2E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8290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38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13.5 nm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938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EUV photon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398091-7C25-44E4-8530-632BDBCA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2628900"/>
            <a:ext cx="13525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77F1C0-CBF2-420D-A28D-D7E62334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7622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67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E65F7C-A50B-4445-86EA-4A0045ED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3076575"/>
            <a:ext cx="1162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Collector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D1CE73F-686D-409E-9C8B-054D4D0F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38290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38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capture EUV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C5422EB-3AC6-4D99-8A65-426252E1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2628900"/>
            <a:ext cx="10858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3"/>
          </a:solidFill>
          <a:ln xmlns:a="http://schemas.openxmlformats.org/drawingml/2006/main" w="9525">
            <a:solidFill>
              <a:srgbClr val="0A2A4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B673DB8-FF12-41DE-AAC9-14B25092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27622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675" b="1">
                <a:solidFill>
                  <a:srgbClr val="5BD0E6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BD0E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156C182-5040-4E08-AD27-1B3883F8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3076575"/>
            <a:ext cx="895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Scanner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DA1E623-9FB9-4714-8A8A-DA57DAF2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382905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38" b="0">
                <a:solidFill>
                  <a:srgbClr val="D7E0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D7E0E8"/>
                </a:solidFill>
                <a:latin typeface="Apple SD Gothic Neo"/>
                <a:ea typeface="Apple SD Gothic Neo"/>
                <a:cs typeface="Apple SD Gothic Neo"/>
              </a:rPr>
              <a:t>optical path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C3EBAC8-FD91-49BF-83DD-6E46B3CE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467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9CF"/>
          </a:solidFill>
          <a:ln xmlns:a="http://schemas.openxmlformats.org/drawingml/2006/main" w="9525">
            <a:solidFill>
              <a:srgbClr val="1456A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74814CA-953C-411C-860D-F82F5D46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86075" y="3562350"/>
            <a:ext cx="485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5849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4878D4-2D9F-4FB1-B53A-E2764557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67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9CF"/>
          </a:solidFill>
          <a:ln xmlns:a="http://schemas.openxmlformats.org/drawingml/2006/main" w="9525">
            <a:solidFill>
              <a:srgbClr val="1456A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39116F8-C394-4458-872C-D4EB167E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86150"/>
            <a:ext cx="55245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6FB"/>
          </a:solidFill>
          <a:ln xmlns:a="http://schemas.openxmlformats.org/drawingml/2006/main" w="19050">
            <a:solidFill>
              <a:srgbClr val="16A9C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90DCC5F-2BE2-45A8-A765-263DFD58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62700" y="35623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8C3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5AD8920-3D04-4A66-8D3A-D53B26F8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62700" y="3486150"/>
            <a:ext cx="64770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8C3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6DD8AEC-B0E0-482F-AE59-1941B5F8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362700" y="3562350"/>
            <a:ext cx="64770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8C3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0CB3551-7123-456F-B20D-851F71BC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86150"/>
            <a:ext cx="32385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6FB"/>
          </a:solidFill>
          <a:ln xmlns:a="http://schemas.openxmlformats.org/drawingml/2006/main" w="9525">
            <a:solidFill>
              <a:srgbClr val="16A9C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4176771-1D8D-4247-80C0-357BAB19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19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8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40FC425-6927-42D6-A66D-700F5658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677275" y="32861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8C3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6739679-C63F-4108-B8AB-88BC608B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77275" y="35623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8C3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63F9B2F-3A3E-4F61-BE33-A31F54FB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8401050" y="3562350"/>
            <a:ext cx="27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8C3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0CC166B-9C05-4D36-8757-BBDF2C90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77275" y="3562350"/>
            <a:ext cx="27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8C3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3994CDE-E08E-482F-B2DA-11F1AC7A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8477250" y="3362325"/>
            <a:ext cx="200025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8C3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956D327-A977-4D9F-80A9-7267008C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677275" y="3362325"/>
            <a:ext cx="200025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8C3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8885FB8-437C-4B62-859B-D90E3711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8477250" y="3562350"/>
            <a:ext cx="200025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8C3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2B558AC-1C95-47E1-99B9-8B135F57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77275" y="3562350"/>
            <a:ext cx="200025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8C3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69C95AD-D6B4-40DC-8202-E736AE17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495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C1E2030-1E11-4939-AA72-D2CB603A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525125" y="3324225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A9C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162DDEA-20D9-4A4C-B4C0-BCAF3F7A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525125" y="3562350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A9C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FEE39C2-2F87-4EE7-BCE4-F3CC7435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0287000" y="356235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A9C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933086A-5DBD-4C76-81F5-F8390CC4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525125" y="356235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A9C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276C8BD-90AA-40C4-87C6-B3515E40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353675" y="3390900"/>
            <a:ext cx="17145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A9C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20EB143-42B6-48AF-AC00-99BCB392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525125" y="3390900"/>
            <a:ext cx="17145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A9C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FDA191F-4A65-4B87-9328-99FD51B8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0353675" y="3562350"/>
            <a:ext cx="17145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A9C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CA72D1A-A521-4B82-A4AD-A025DA33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525125" y="3562350"/>
            <a:ext cx="17145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A9C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6266DA4-67B9-4263-B82C-DF09D956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3352800"/>
            <a:ext cx="6477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19050">
            <a:solidFill>
              <a:srgbClr val="1456A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033D023-9FDE-43B9-970B-D3064AC5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33375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6029957-70A1-451D-B5F0-83B74528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716000" y="34099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D0E6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AC8B411-7F46-49F7-8555-C8699778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849350" y="358140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D0E6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BAAAA3E-EEC1-43EB-AA77-850512AC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982700" y="37528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D0E6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E72984E-8AB9-4F1C-B0EE-8F746AF3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4020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6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8A04E2C-B38C-48C2-B2F5-CD780C52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1356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456A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456A0"/>
                </a:solidFill>
                <a:latin typeface="Apple SD Gothic Neo"/>
                <a:ea typeface="Apple SD Gothic Neo"/>
                <a:cs typeface="Apple SD Gothic Neo"/>
              </a:rPr>
              <a:t>Laser energy가 13.5 nm로 직접 변환되는 것이 아니다.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987DCC3-EC78-4343-96B8-B9F0050C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1356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Laser가 Sn을 plasma화하고, highly ionized Sn plasma의 electronic transitions가 EUV photon을 방출한다.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FB6881F-F146-4100-A48C-35CCC33D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600075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56A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60B7132-F78C-4512-A669-8F70791D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869289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OPERATING SCALE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35481C3-B83C-4CE2-8DBF-7897C5C7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6086475"/>
            <a:ext cx="630936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ULTRAFAST REPETITIVE SOURCE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BC8DFDE-79C7-40A2-806C-96E3D1F9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53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≈ 25 µm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CD7CEA3-2E3B-4CD2-B794-480DF493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5151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53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≈ 70 m/s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84BF847-EB63-4F6E-943A-23798932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5151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53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50,000× / s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439D4E6-D2E2-4F88-978C-BECCE3F9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515100"/>
            <a:ext cx="398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53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0A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A2A43"/>
                </a:solidFill>
                <a:latin typeface="Arial"/>
                <a:ea typeface="Arial"/>
                <a:cs typeface="Arial"/>
              </a:rPr>
              <a:t>moving target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B86FBEC-C73F-477E-8AE1-9C448C87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TIN DROPLET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2EDA2D0-3F67-4E73-9F4D-9DA24A65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953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DROPLET VELOCITY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D7F7337-C247-4DD8-9596-D755A70A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9532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LASER INTERACTIONS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D0706EB-28A0-4E8F-8A01-08250A7C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953250"/>
            <a:ext cx="398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NOT A CONTINUOUSLY LIT LAMP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733608E-12BC-4AC8-A846-CCB34D7F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80391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32D110E-BAEE-4185-BCC2-D82054CB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1402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13" b="0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758493"/>
                </a:solidFill>
                <a:latin typeface="Arial"/>
                <a:ea typeface="Arial"/>
                <a:cs typeface="Arial"/>
              </a:rPr>
              <a:t>Reference · ASML · Light &amp; lasers (25 µm, 70 m/s, 50,000 interactions/s)</a:t>
            </a:r>
          </a:p>
        </p:txBody>
      </p:sp>
    </p:spTree>
    <p:extLst>
      <p:ext uri="{BB962C8B-B14F-4D97-AF65-F5344CB8AC3E}">
        <p14:creationId xmlns:p14="http://schemas.microsoft.com/office/powerpoint/2010/main" val="16715538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9D97C53-1BB9-4127-B014-2E2BE023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EUV SOURCE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EC7D7-A010-4DFF-AAE0-E0C7AEC9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32385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15 /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F888B4-4E35-4201-91C1-9F3DEE55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THROUGHPUT ≠ DOSE ACCURACY</a:t>
            </a:r>
          </a:p>
        </p:txBody>
      </p:sp>
      <p:sp>
        <p:nvSpPr>
          <p:cNvPr id="4" name="slide-15-title">
            <a:extLst xmlns:a="http://schemas.openxmlformats.org/drawingml/2006/main">
              <a:ext uri="{FF2B5EF4-FFF2-40B4-BE49-F238E27FC236}">
                <a16:creationId xmlns:a16="http://schemas.microsoft.com/office/drawing/2014/main" id="{38E7976E-01B6-40CE-A465-B2775720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402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Power는 dose를 빨리 채우고, stability는 dose를 정확히 맞춘다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BB40BB-16F6-4B1B-AA5D-350C5AFE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6705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DF656E-2229-4DFD-BCE9-E299BF9A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5BD0E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BD0E6"/>
                </a:solidFill>
                <a:latin typeface="Arial"/>
                <a:ea typeface="Arial"/>
                <a:cs typeface="Arial"/>
              </a:rPr>
              <a:t>POWER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93A3E7-9741-4102-B29F-592A1D3C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624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6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Dose를 빨리 채우는 능력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CD7069-8BBE-428B-959B-A43A2EF7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52600"/>
            <a:ext cx="6705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590045-DDE4-4AD6-A8B6-3F690125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5BD0E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BD0E6"/>
                </a:solidFill>
                <a:latin typeface="Arial"/>
                <a:ea typeface="Arial"/>
                <a:cs typeface="Arial"/>
              </a:rPr>
              <a:t>STABILITY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85AB3B-3691-4A16-98DB-B44C7EB1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66950"/>
            <a:ext cx="624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6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Dose를 정확히 맞추는 능력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378FB1-8EA6-4CB0-BE0A-97221D5E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3181350"/>
            <a:ext cx="670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56A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39F126-F246-4A53-8E77-C6386186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4157472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AVERAGE SOURCE POWER 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96E5ED-20D5-4035-BB40-0F2C2BBA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267075"/>
            <a:ext cx="301752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EXPOSURE TIME 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A5671B-8BA0-497A-902A-17BC281D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23950" y="5153025"/>
            <a:ext cx="565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E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31ED7C-D8A4-4945-A93A-66786C54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00550"/>
            <a:ext cx="9144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4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D7AC38-7C47-4D99-B3CB-3B7C35C0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095750"/>
            <a:ext cx="9144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91D755-57ED-42C1-8813-F697DD66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95700"/>
            <a:ext cx="914400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9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F6E2A5-0F79-4878-AE56-4FE71E36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6732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493"/>
                </a:solidFill>
                <a:latin typeface="Arial"/>
                <a:ea typeface="Arial"/>
                <a:cs typeface="Arial"/>
              </a:rPr>
              <a:t>P₁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9EA194-DE48-4226-BB90-9CDF53CB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26732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456A0"/>
                </a:solidFill>
                <a:latin typeface="Arial"/>
                <a:ea typeface="Arial"/>
                <a:cs typeface="Arial"/>
              </a:rPr>
              <a:t>P₂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5259AF-D384-4310-82A2-B288DBFD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6732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6A9CF"/>
                </a:solidFill>
                <a:latin typeface="Arial"/>
                <a:ea typeface="Arial"/>
                <a:cs typeface="Arial"/>
              </a:rPr>
              <a:t>P₃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FACF09-8A6B-4806-9A53-4C328926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338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F33"/>
                </a:solidFill>
                <a:latin typeface="Arial"/>
                <a:ea typeface="Arial"/>
                <a:cs typeface="Arial"/>
              </a:rPr>
              <a:t>Same target dose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A494B9-2F66-497D-9171-38A3E872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714875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→ shorter exposure time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848F1E-0DD5-4DD9-81FB-F11D73E7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67056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196CFA-4BFB-4819-86AE-D5DECCAD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4762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9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6A7049-B882-419C-AD01-156569B6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81700"/>
            <a:ext cx="636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PROCESS MARGIN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9D181A-B7A9-4ED5-87F0-CBB2352C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67450"/>
            <a:ext cx="6362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Throughput을 유지하면서 higher-dose resist/process를 선택할 여지가 생겨 stochastic defect trade-off에 유리할 수 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3504E4-EEF1-4025-B46D-C4F58C15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24800" y="3181350"/>
            <a:ext cx="670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56A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D898A3-8574-4A91-99AB-8CE44F00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67075"/>
            <a:ext cx="4157472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DOSE CONTROL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2E082F-9E72-4346-BF2A-9A331B0B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0" y="3267075"/>
            <a:ext cx="301752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PULSE-TO-PULSE + SCANNER SYNC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52B140-4313-482C-9C35-1F4DE10C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362950" y="5153025"/>
            <a:ext cx="584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0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D30414-21B4-4DF1-B34D-FF4BD02F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362950" y="3981450"/>
            <a:ext cx="584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456A0"/>
            </a:solidFill>
            <a:prstDash val="dash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CF655E-842C-4679-8097-D21C94F5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3752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67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TARGET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FC2D70-DBCB-41AB-88A9-1F6DE8E5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352925"/>
            <a:ext cx="2286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7B1372-441A-4C2E-95BA-504FE6FD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48125"/>
            <a:ext cx="2286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25AC30-E66D-41E9-B84F-351DEE86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276725"/>
            <a:ext cx="228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2D6F34-2648-42CF-9578-223A9F7F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895725"/>
            <a:ext cx="228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F05609-B76B-4F0F-8830-2E3EE6CD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162425"/>
            <a:ext cx="228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61A7EE-BB51-4EA8-883D-73C5BCE7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448175"/>
            <a:ext cx="228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85B88C-256A-4819-92B9-1891DF8D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00500"/>
            <a:ext cx="22860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1DA4A4-73E0-438B-B5D6-BAAF1784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4238625"/>
            <a:ext cx="228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0CF03F4-7486-48D4-B136-11A09E2F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105275"/>
            <a:ext cx="2286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3D98EEF-497B-41C7-892E-370AA79C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4314825"/>
            <a:ext cx="228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77AF9C9-1D7C-49E6-9120-BDABA97B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7350" y="3952875"/>
            <a:ext cx="2286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CE45E6D-9B34-45C9-8038-3DCE44DB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4181475"/>
            <a:ext cx="2286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0631F5D-5EB8-4D7C-A498-5AE82A9E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467350"/>
            <a:ext cx="6172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Average power가 같아도 pulse variation · dose control · synchronization이 다르면 dose accuracy는 달라진다.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D699B37-81F6-46B2-BC6C-4B425708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229350"/>
            <a:ext cx="67056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6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6ED311C-05CC-4ADB-B3C8-AE10CACD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6429375"/>
            <a:ext cx="624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D94B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4B4B"/>
                </a:solidFill>
                <a:latin typeface="Arial"/>
                <a:ea typeface="Arial"/>
                <a:cs typeface="Arial"/>
              </a:rPr>
              <a:t>Higher source power ≠ automatically lower dose error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D242782-FC7A-4D90-9D2D-4E774990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6800850"/>
            <a:ext cx="624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75849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758493"/>
                </a:solidFill>
                <a:latin typeface="Apple SD Gothic Neo"/>
                <a:ea typeface="Apple SD Gothic Neo"/>
                <a:cs typeface="Apple SD Gothic Neo"/>
              </a:rPr>
              <a:t>Roadmap 수치는 official primary source의 시점·맥락과 함께만 사용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2464DB0-339A-4616-B282-04C417F7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80391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8567BB1-7441-4633-8C99-A4BA347C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1402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13" b="0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758493"/>
                </a:solidFill>
                <a:latin typeface="Arial"/>
                <a:ea typeface="Arial"/>
                <a:cs typeface="Arial"/>
              </a:rPr>
              <a:t>Reference · ASML 2025 Annual Report · source-power development context; ASML · Light &amp; lasers</a:t>
            </a:r>
          </a:p>
        </p:txBody>
      </p:sp>
    </p:spTree>
    <p:extLst>
      <p:ext uri="{BB962C8B-B14F-4D97-AF65-F5344CB8AC3E}">
        <p14:creationId xmlns:p14="http://schemas.microsoft.com/office/powerpoint/2010/main" val="42826366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99B217-1701-4693-8C80-4512C3AE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HIGH-NA EUV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F296DD-8E31-4F25-892E-596C5624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32385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16 /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3406B1-19FE-4435-B247-E8107171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NXE = 0.33 NA · EXE = 0.55 NA</a:t>
            </a:r>
          </a:p>
        </p:txBody>
      </p:sp>
      <p:sp>
        <p:nvSpPr>
          <p:cNvPr id="4" name="slide-16-title">
            <a:extLst xmlns:a="http://schemas.openxmlformats.org/drawingml/2006/main">
              <a:ext uri="{FF2B5EF4-FFF2-40B4-BE49-F238E27FC236}">
                <a16:creationId xmlns:a16="http://schemas.microsoft.com/office/drawing/2014/main" id="{0B7FCBFD-7706-42D3-BB14-25FD3392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402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High-NA는 13.5 nm를 유지한 채 NA를 0.33에서 0.55로 높인다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27E8B5-18DB-4079-8FE8-EF1C4DEB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0" y="1762125"/>
            <a:ext cx="0" cy="5324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0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89176-B379-4F33-87C1-55C66ADF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1762125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56A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C66C8D-AB20-4BF9-B5BD-F8A10FE2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396849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LOW-NA EUV · NXE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0419C7-F65D-4C9C-9AED-6B592C90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0040" y="1847850"/>
            <a:ext cx="288036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NA 0.33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3970A0-2C5F-465F-B6C2-8917EC6B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29600" y="1762125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56A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D4220A-3BF6-4BF0-9936-F18D78E3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47850"/>
            <a:ext cx="396849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HIGH-NA EUV · EXE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BAD1F5-61A6-4512-BDA0-4F9DC277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0040" y="1847850"/>
            <a:ext cx="288036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NA 0.55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E98B68-9A48-4828-85C8-F09B401F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762625"/>
            <a:ext cx="2705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6350F7-1785-461E-A257-F864A082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762625"/>
            <a:ext cx="2705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168D36-EEF4-48CF-8540-9A8A26C5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553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7DF12F-E69B-43D6-8E5E-59D9383B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5553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9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755345-D3AC-45FD-AC94-0324B733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2724150" y="3181350"/>
            <a:ext cx="1085850" cy="2428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56A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B6261A-5538-434A-AF18-80BA36C0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810000" y="3181350"/>
            <a:ext cx="1085850" cy="2428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56A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6D3856-2970-4AC1-8F70-B92E4C9F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8896350" y="3181350"/>
            <a:ext cx="2533650" cy="2428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A9C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F68011-59AE-4AA7-8DA7-92744F05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430000" y="3181350"/>
            <a:ext cx="2533650" cy="2428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A9C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F3C292-5319-466F-9A5E-0BC8C507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724150" y="3181350"/>
            <a:ext cx="217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456A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2EB8F9-8AF0-4AFA-8B2F-6E04BFC2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896350" y="3181350"/>
            <a:ext cx="506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A9C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187CEC-5D01-4AD0-BEDB-28FCDD31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00500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57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15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0.33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731698-8A37-4538-95B3-188B400F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0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57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150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0.55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AE266E-267B-4BAD-ABD0-203EBA63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6248400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28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≈ 13 nm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11C5CE-12CD-402B-B96E-8662F5E2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248400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28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≈ 8 nm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25D80F-4DA4-4654-96E8-43EBC0E2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670560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PRODUCTION RESOLUTION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D18201-3E88-4399-82D7-DE660A24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70560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PRODUCTION RESOLUTION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F2D8D8-7D0A-4B30-B24B-DE154A12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6625"/>
            <a:ext cx="14020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6CC9BA-1A0E-4DD1-A65E-C5205916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410450"/>
            <a:ext cx="1356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EXE는 NXE 대비 single exposure에서 약 1.7× smaller feature를 print할 수 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068BC4-0B8C-44D7-A8B4-4C3DE7BF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80391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720202-6947-440B-8D8C-8073AEC6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1402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13" b="0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758493"/>
                </a:solidFill>
                <a:latin typeface="Arial"/>
                <a:ea typeface="Arial"/>
                <a:cs typeface="Arial"/>
              </a:rPr>
              <a:t>Reference · ASML · NXE:3400C (NA 0.33, 13 nm); EXE:5200B (NA 0.55, 8 nm, 1.7× smaller feature)</a:t>
            </a:r>
          </a:p>
        </p:txBody>
      </p:sp>
    </p:spTree>
    <p:extLst>
      <p:ext uri="{BB962C8B-B14F-4D97-AF65-F5344CB8AC3E}">
        <p14:creationId xmlns:p14="http://schemas.microsoft.com/office/powerpoint/2010/main" val="20469884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211F14-3A91-4BCE-A7BA-B47056F6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HIGH-NA EUV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2969DE-B5EE-4A36-A621-629B2434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32385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17 /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C13F9F-24A3-49F3-9C28-E51964ED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MAGNIFICATION COMES FROM MIRROR GEOMETRY</a:t>
            </a:r>
          </a:p>
        </p:txBody>
      </p:sp>
      <p:sp>
        <p:nvSpPr>
          <p:cNvPr id="4" name="slide-17-title">
            <a:extLst xmlns:a="http://schemas.openxmlformats.org/drawingml/2006/main">
              <a:ext uri="{FF2B5EF4-FFF2-40B4-BE49-F238E27FC236}">
                <a16:creationId xmlns:a16="http://schemas.microsoft.com/office/drawing/2014/main" id="{A31F3957-9203-4757-8D20-851BF903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402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Anamorphic optics는 reticle angle 문제를 4×/8× projection으로 푼다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C45BC2-8157-4416-90DE-092C0DFB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4020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6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2AB62B-7A2E-4C80-9F63-3F65CA28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1356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Mo/Si coating = EUV reflectivity     ·     Projection mirror curvature / position / arrangement = focusing + magnification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79119E-6A0B-4350-8C60-3DA40D15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2876550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56A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18E4FC-2BB5-4003-A1EF-533881C4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396849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NXE · ISOMORPHIC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430042-1919-4FA6-83FD-BB7C63B4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0040" y="2962275"/>
            <a:ext cx="288036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4× / 4×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0CD1FE-78A5-4151-910A-E6B42E05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86150"/>
            <a:ext cx="26670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1456A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D04625-3196-4BC2-BA44-92901A3C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886200"/>
            <a:ext cx="838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1456A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DCDE1C-B155-4805-80E6-BB84A4B9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768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RETICLE FIELD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0E573B-7BEF-4995-A180-61135088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11480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048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85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4A2B78-0F98-4ED0-BDF8-02C4B0CE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67150"/>
            <a:ext cx="1562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637FDE-C7E1-4513-B53A-9D4730D0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05275"/>
            <a:ext cx="495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A87057-24BA-4F38-B774-B5C09D02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476875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 b="1">
                <a:solidFill>
                  <a:srgbClr val="0A2A4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A2A43"/>
                </a:solidFill>
                <a:latin typeface="Arial"/>
                <a:ea typeface="Arial"/>
                <a:cs typeface="Arial"/>
              </a:rPr>
              <a:t>WAFER FIELD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94AA33-2EDF-4695-A685-841D3F28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5790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X 4×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217966-E5FE-480A-9DD2-005D7F88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605790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Y 4×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D5FC10-C821-456F-BD2D-59D78F83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29600" y="2876550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56A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57AAEB-7F27-44D4-AE9F-79D3915B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62275"/>
            <a:ext cx="396849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EXE · ANAMORPHIC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7C27CE-4D63-415B-932E-0186C760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0040" y="2962275"/>
            <a:ext cx="288036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4× / 8×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ADB6A3-5243-4403-8AE5-CD2C9BF2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86150"/>
            <a:ext cx="26670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16A9C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293697-187A-4B19-9A63-719EA2CC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886200"/>
            <a:ext cx="838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6FB"/>
          </a:solidFill>
          <a:ln xmlns:a="http://schemas.openxmlformats.org/drawingml/2006/main" w="9525">
            <a:solidFill>
              <a:srgbClr val="16A9C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D85AD6-5DCA-422D-93C1-7527C812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768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RETICLE FIELD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96EAF1-31D2-4AC3-8112-E0F83250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11480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048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850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2489E1-C3EA-4BE9-B8CB-2E2188A2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3990975"/>
            <a:ext cx="1562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C55525-8B6B-46FD-9ED7-9A56D851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4181475"/>
            <a:ext cx="495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398BD6-3010-4A0D-9DC3-3FEDAC49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5476875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 b="1">
                <a:solidFill>
                  <a:srgbClr val="0A2A4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A2A43"/>
                </a:solidFill>
                <a:latin typeface="Arial"/>
                <a:ea typeface="Arial"/>
                <a:cs typeface="Arial"/>
              </a:rPr>
              <a:t>HALF-SIZE FIELD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B324B7-53EF-410E-9202-EEB49D0E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605790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X 4×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7B4789-FC00-44CB-9EAB-AB64E55D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05790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Y 8×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4687D9-5F3D-4F5E-A619-AB18394E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05600"/>
            <a:ext cx="685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281633-3324-47A3-9AC9-1FFA300D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056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96BD57-9CAD-4E3E-BBBC-5F9BC91B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38950"/>
            <a:ext cx="651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WHY ANAMORPHIC?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6DF5E6-B217-4C6C-A957-4D11ED3D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124700"/>
            <a:ext cx="6515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NA 0.55에서 기존 4×/4× geometry를 유지하면 reticle incidence angle이 커져 reflectivity와 imaging에 부담이 생긴다.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463C21-3C60-4D6E-B0D0-05F0A8ED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6705600"/>
            <a:ext cx="685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3DDC8B-8F51-41A1-9BD3-55827C25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67056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9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E9BA30-74D8-4EAD-AC70-DCAE8920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6838950"/>
            <a:ext cx="651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TRADE-OFF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D62D5BF-E597-4E43-942A-7D9E62AF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7124700"/>
            <a:ext cx="6515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한 방향 8× demagnification으로 angle을 관리하는 대신 exposure field가 한 방향으로 절반이 된다.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F310BB-589C-4ABB-9AE4-073D0A3F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80391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7E38179-5CD3-4970-9BA1-93C20DC8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1402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13" b="0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758493"/>
                </a:solidFill>
                <a:latin typeface="Arial"/>
                <a:ea typeface="Arial"/>
                <a:cs typeface="Arial"/>
              </a:rPr>
              <a:t>Reference · ASML · 5 things you should know about High-NA EUV lithography; ZEISS · High-NA EUV lithography</a:t>
            </a:r>
          </a:p>
        </p:txBody>
      </p:sp>
    </p:spTree>
    <p:extLst>
      <p:ext uri="{BB962C8B-B14F-4D97-AF65-F5344CB8AC3E}">
        <p14:creationId xmlns:p14="http://schemas.microsoft.com/office/powerpoint/2010/main" val="15285279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043D20-DB90-4FF9-BC32-E91AFA52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HIGH-NA EUV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5CD3D3-C851-4395-93A9-8B0FD7F5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32385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18 /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6DA894-8BDE-44C7-B287-B17AA24F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OPTICS → FIELD COUNT → MOTION CONTROL</a:t>
            </a:r>
          </a:p>
        </p:txBody>
      </p:sp>
      <p:sp>
        <p:nvSpPr>
          <p:cNvPr id="4" name="slide-18-title">
            <a:extLst xmlns:a="http://schemas.openxmlformats.org/drawingml/2006/main">
              <a:ext uri="{FF2B5EF4-FFF2-40B4-BE49-F238E27FC236}">
                <a16:creationId xmlns:a16="http://schemas.microsoft.com/office/drawing/2014/main" id="{636774CF-F9E6-47C1-A83E-4C4E08E5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402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Half-field는 stage dynamics를 새로운 throughput 병목으로 만든다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65DA55-FAF4-4FB5-AB9F-01B5D22D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1733550"/>
            <a:ext cx="883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56A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4976B1-3E2B-46C6-8F07-17799AA1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5480304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EXPOSURE FIELD TRADE-OFF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BE4E47-1386-4BC6-A11C-7E6CC720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1160" y="1819275"/>
            <a:ext cx="397764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FULL FIELD → HALF FIELD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5F13B7-3BB0-49E8-9E34-7FE853DA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36766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3DBDB7-11AA-4480-913A-8A5D8D2D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514600"/>
            <a:ext cx="2400300" cy="2400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19050">
            <a:solidFill>
              <a:srgbClr val="1456A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960CC1-B07A-4F33-A2BE-A8F97F57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05150"/>
            <a:ext cx="12763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6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3A3A27-9FC0-400C-856B-896CDF82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625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NXE FULL FIELD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AD9D62-5CCE-4F81-9AC5-CB7CE3B9F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76625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37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150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F66065-E284-47A0-B263-20CD777D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41910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B127F3-67F2-42AE-B861-A43383DE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14600"/>
            <a:ext cx="2400300" cy="2400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6FB"/>
          </a:solidFill>
          <a:ln xmlns:a="http://schemas.openxmlformats.org/drawingml/2006/main" w="19050">
            <a:solidFill>
              <a:srgbClr val="16A9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3D59FB-C2A3-4726-BB39-4226E033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05150"/>
            <a:ext cx="7810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9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122264-A795-4ED9-A705-7FE889AC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05150"/>
            <a:ext cx="7810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9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74806B-62DE-49C3-B86C-8F179D2A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62500"/>
            <a:ext cx="327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EXE HALF FIELD ×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EA3434-CB80-4571-8114-D07376E2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883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456A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456A0"/>
                </a:solidFill>
                <a:latin typeface="Apple SD Gothic Neo"/>
                <a:ea typeface="Apple SD Gothic Neo"/>
                <a:cs typeface="Apple SD Gothic Neo"/>
              </a:rPr>
              <a:t>wafer당 exposure field 수 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7FD21E-643C-43C3-A899-1B01823C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29325"/>
            <a:ext cx="883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같은 throughput을 유지하려면 wafer stage와 reticle stage가 더 빠르게 움직여야 한다.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F7DA43-D783-4232-8AC0-5F10A7EE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44100" y="1733550"/>
            <a:ext cx="468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56A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EAAF21-6C19-4AEC-ACC4-C44694AC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819275"/>
            <a:ext cx="290550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EXE:5000 STAGE SCALE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7BEEE8-2BAB-4D37-A30B-DF8E4733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1565" y="1819275"/>
            <a:ext cx="210883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ACCELERATION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AD9A0F-C11D-473B-91FD-1285DDE3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209800"/>
            <a:ext cx="46863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E6A743-0A0B-4E15-A4EB-45582E4D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5527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31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≈ 8 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095C16-AE7B-4DA8-A71B-B230A26E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25527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31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300" b="1">
                <a:solidFill>
                  <a:srgbClr val="5BD0E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5BD0E6"/>
                </a:solidFill>
                <a:latin typeface="Arial"/>
                <a:ea typeface="Arial"/>
                <a:cs typeface="Arial"/>
              </a:rPr>
              <a:t>≈ 32 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2F430B-6C91-4FCA-BA55-C29A6AD4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1813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 b="1">
                <a:solidFill>
                  <a:srgbClr val="D7E0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7E0E8"/>
                </a:solidFill>
                <a:latin typeface="Arial"/>
                <a:ea typeface="Arial"/>
                <a:cs typeface="Arial"/>
              </a:rPr>
              <a:t>WAFER STAGE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BCC068-9E4C-4A5F-A56F-9D5B0AAC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31813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 b="1">
                <a:solidFill>
                  <a:srgbClr val="D7E0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7E0E8"/>
                </a:solidFill>
                <a:latin typeface="Arial"/>
                <a:ea typeface="Arial"/>
                <a:cs typeface="Arial"/>
              </a:rPr>
              <a:t>RETICLE STAGE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DC2F42-1519-4BAA-A5B8-3AFE539D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210050"/>
            <a:ext cx="4686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940E42-437F-4E3D-B12B-1D3161EB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21005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9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C5CE55-635D-4372-8ED3-E29DFE14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343400"/>
            <a:ext cx="434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THE HARD PART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1BFEE2-A471-47E7-976E-23C4CFAA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629150"/>
            <a:ext cx="4343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수십 g acceleration에서도 imaging · overlay에 필요한 nm-level positioning을 유지해야 한다.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FAF236-B39D-4276-BBBC-EA9E0FB0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810250"/>
            <a:ext cx="46863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19BD8A-D4AE-4505-993C-F1195640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810250"/>
            <a:ext cx="476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371D87-1691-4B50-8E70-97CE884D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943600"/>
            <a:ext cx="434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E78C3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E78C35"/>
                </a:solidFill>
                <a:latin typeface="Arial"/>
                <a:ea typeface="Arial"/>
                <a:cs typeface="Arial"/>
              </a:rPr>
              <a:t>NEW BOTTLENECK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D4678A-5F5D-4FD5-B1BA-B96AA2B9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229350"/>
            <a:ext cx="4343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Source power가 exposure-time 병목을 줄이면 stage dynamics · overlay · focus · vibration control이 throughput을 제한할 수 있다.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E98E33-F82C-452D-B15A-A3126306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19950"/>
            <a:ext cx="14020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6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9C3AE4-E4B8-4513-A66B-E6BBE829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372350"/>
            <a:ext cx="1356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456A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456A0"/>
                </a:solidFill>
                <a:latin typeface="Apple SD Gothic Neo"/>
                <a:ea typeface="Apple SD Gothic Neo"/>
                <a:cs typeface="Apple SD Gothic Neo"/>
              </a:rPr>
              <a:t>High-NA의 resolution은 optics가 만들지만, 생산성은 precision mechatronics가 지킨다.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8F9B8D-5008-4489-9017-03C197CB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80391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94F291-9791-43CD-9DE3-B7007068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1402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13" b="0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758493"/>
                </a:solidFill>
                <a:latin typeface="Arial"/>
                <a:ea typeface="Arial"/>
                <a:cs typeface="Arial"/>
              </a:rPr>
              <a:t>Reference · ASML · 5 things you should know about High-NA EUV lithography (8g wafer stage, 32g reticle stage)</a:t>
            </a:r>
          </a:p>
        </p:txBody>
      </p:sp>
    </p:spTree>
    <p:extLst>
      <p:ext uri="{BB962C8B-B14F-4D97-AF65-F5344CB8AC3E}">
        <p14:creationId xmlns:p14="http://schemas.microsoft.com/office/powerpoint/2010/main" val="119047872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B4F21DF-287E-49E6-B9E5-1E6B9816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PLATFORM ECONOMICS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E70801-24CD-451D-AEC4-A4D03D80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32385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19 /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4DE6CB-AE59-4F53-90CA-3EEE68E3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SYSTEM VALUE, NOT WAVELENGTH VALUE</a:t>
            </a:r>
          </a:p>
        </p:txBody>
      </p:sp>
      <p:sp>
        <p:nvSpPr>
          <p:cNvPr id="4" name="slide-19-title">
            <a:extLst xmlns:a="http://schemas.openxmlformats.org/drawingml/2006/main">
              <a:ext uri="{FF2B5EF4-FFF2-40B4-BE49-F238E27FC236}">
                <a16:creationId xmlns:a16="http://schemas.microsoft.com/office/drawing/2014/main" id="{22952D06-E176-48A6-AD65-0196D9BA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402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EUV는 resolution이 아니라 cost-of-patterning이 이길 때 선택된다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B496B3-ED31-437B-BA09-FE424030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733550" y="2571750"/>
            <a:ext cx="5886450" cy="190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0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29529B-6DE9-4218-A7CF-550A98DD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972050" y="2571750"/>
            <a:ext cx="2647950" cy="190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08A6FA-3066-4213-AF1B-1FC23AD9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620000" y="2571750"/>
            <a:ext cx="2647950" cy="190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7611E6-BE89-4BBA-A0BA-8D9A87DB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620000" y="2571750"/>
            <a:ext cx="5886450" cy="190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0D6BC3-2727-4890-A41A-2F59DC2D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0" y="4476750"/>
            <a:ext cx="5886450" cy="171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0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E50F73-B98D-4C1B-9388-E4969C7B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0" y="4476750"/>
            <a:ext cx="2647950" cy="171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0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2494F8-A595-4A41-876D-C126B236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972050" y="4476750"/>
            <a:ext cx="2647950" cy="171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647FB4-6669-46EE-A0DB-81D95DE5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733550" y="4476750"/>
            <a:ext cx="5886450" cy="171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3BD157-0628-493C-AD06-37F30152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52800"/>
            <a:ext cx="2247900" cy="2247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938B0F-96AE-4262-B057-CE3B5864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05250"/>
            <a:ext cx="2133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EUV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Platform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0FCFAB-50CD-40B8-8BF1-FF5A0D8F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625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5BD0E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D0E6"/>
                </a:solidFill>
                <a:latin typeface="Arial"/>
                <a:ea typeface="Arial"/>
                <a:cs typeface="Arial"/>
              </a:rPr>
              <a:t>Economics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4B8BB6-E895-4A03-AE64-E6CBEAC6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9070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456A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C7D6D0-959C-480D-87DA-2D40D450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479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Resolution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947C80-D45D-497A-9EB3-B5F2323B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0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493"/>
                </a:solidFill>
                <a:latin typeface="Arial"/>
                <a:ea typeface="Arial"/>
                <a:cs typeface="Arial"/>
              </a:rPr>
              <a:t>single-exposure capability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4CC85C-C284-456B-A222-4112850F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9070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A9C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2A68FE-8326-461F-8CB3-0A68774E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479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860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Patterning complexity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73A54A-1068-49DC-BD31-68DAE2C4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9080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0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493"/>
                </a:solidFill>
                <a:latin typeface="Arial"/>
                <a:ea typeface="Arial"/>
                <a:cs typeface="Arial"/>
              </a:rPr>
              <a:t>process steps · mask count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3F60D6-1622-43FA-B095-410C7FB1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79070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E78C3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6B252F-69CA-44B7-AEF5-2C10D55C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2479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E78C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78C35"/>
                </a:solidFill>
                <a:latin typeface="Arial"/>
                <a:ea typeface="Arial"/>
                <a:cs typeface="Arial"/>
              </a:rPr>
              <a:t>Overlay / defect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49A1C0-C0D4-4A47-8FDA-92B8557B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9080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0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493"/>
                </a:solidFill>
                <a:latin typeface="Arial"/>
                <a:ea typeface="Arial"/>
                <a:cs typeface="Arial"/>
              </a:rPr>
              <a:t>opportunity reduction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887DB7-DB97-4E74-BA50-068F63FD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179070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A9C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79F9EC-23A6-4AE9-8F3D-66B4BCAB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22479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DC90E5-6EAC-4D58-99EF-8A935555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59080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0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493"/>
                </a:solidFill>
                <a:latin typeface="Arial"/>
                <a:ea typeface="Arial"/>
                <a:cs typeface="Arial"/>
              </a:rPr>
              <a:t>power · stability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79ACD6-E179-481F-930D-E1421D4A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541020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456A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2ACFEA-7839-4C6E-935D-7F0ED096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58674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PR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C36790-2E3C-479F-B369-19702660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621030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0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493"/>
                </a:solidFill>
                <a:latin typeface="Arial"/>
                <a:ea typeface="Arial"/>
                <a:cs typeface="Arial"/>
              </a:rPr>
              <a:t>sensitivity · stochastic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6F8250-EC5C-4D25-80AB-00C2DE39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41020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A9C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B37CC4-0226-4FA6-8E6C-AFBED6C7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8674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Scanner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083D2D-F2FD-4D2D-B49B-83CC259C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1030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0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493"/>
                </a:solidFill>
                <a:latin typeface="Arial"/>
                <a:ea typeface="Arial"/>
                <a:cs typeface="Arial"/>
              </a:rPr>
              <a:t>throughput · precision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1B6E68-A302-4550-A4E5-23EEC9B6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1020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E78C3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FDA933-5FF9-463F-AC1D-14D96CE1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8674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E78C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78C35"/>
                </a:solidFill>
                <a:latin typeface="Arial"/>
                <a:ea typeface="Arial"/>
                <a:cs typeface="Arial"/>
              </a:rPr>
              <a:t>Cycle time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B4B3F4-C7DC-4DF5-A93E-3F382E36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621030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0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493"/>
                </a:solidFill>
                <a:latin typeface="Arial"/>
                <a:ea typeface="Arial"/>
                <a:cs typeface="Arial"/>
              </a:rPr>
              <a:t>queue · metrology · rework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E9FC56-8FD7-477A-9E80-6B9EB609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1020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456A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F7560D-E114-410F-B22E-2AA1164D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674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Cost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C9AF71-3927-4D8F-B86C-FF2EA156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21030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0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493"/>
                </a:solidFill>
                <a:latin typeface="Arial"/>
                <a:ea typeface="Arial"/>
                <a:cs typeface="Arial"/>
              </a:rPr>
              <a:t>tool + process + yield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15DAA6-C438-4B2B-B226-E921D089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219950"/>
            <a:ext cx="723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458B0F7-9CBB-443C-8CE1-FE334202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372350"/>
            <a:ext cx="678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DUV + multi-patterning이 더 경제적인 layer라면 EUV가 필수는 아니다.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9471FB7-099A-43F4-96D0-2B79F42A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80391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96F062A-0577-417F-95B1-4E966E4C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1402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13" b="0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758493"/>
                </a:solidFill>
                <a:latin typeface="Arial"/>
                <a:ea typeface="Arial"/>
                <a:cs typeface="Arial"/>
              </a:rPr>
              <a:t>Reference · Synthesis from ASML platform specifications and imec multi-patterning integration context</a:t>
            </a:r>
          </a:p>
        </p:txBody>
      </p:sp>
    </p:spTree>
    <p:extLst>
      <p:ext uri="{BB962C8B-B14F-4D97-AF65-F5344CB8AC3E}">
        <p14:creationId xmlns:p14="http://schemas.microsoft.com/office/powerpoint/2010/main" val="187332588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775DCD0-650E-4434-B4E5-1D8E4EB4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KEY TAKEAWAYS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A14E4F-B836-40EC-BD49-24635F37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32385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20 /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731376-BC1B-4E5A-BC00-AC2691E1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REFERENCE MAP</a:t>
            </a:r>
          </a:p>
        </p:txBody>
      </p:sp>
      <p:sp>
        <p:nvSpPr>
          <p:cNvPr id="4" name="slide-20-title">
            <a:extLst xmlns:a="http://schemas.openxmlformats.org/drawingml/2006/main">
              <a:ext uri="{FF2B5EF4-FFF2-40B4-BE49-F238E27FC236}">
                <a16:creationId xmlns:a16="http://schemas.microsoft.com/office/drawing/2014/main" id="{959EEC43-3F65-429F-8ADA-F30EADA0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402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EUV의 가치는 13.5 nm photon을 양산 가능한 pattern으로 바꾸는 데 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C6D37A-95EB-41AB-8B9D-9F1CA4FA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71056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A96418-9F57-451D-A040-9DB99867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24050"/>
            <a:ext cx="552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47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7D75A3-7359-42FF-8654-270F70F7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847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Pattern Transfer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185AB5-C195-47BA-8F77-9673696A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181225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PHOTO의 output은 PR image가 아니라 target film에 남은 pattern이다.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5007DE-A8D8-43AA-B7AA-62C589C2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71056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1743E7-0D74-4624-8EC3-27A86418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552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47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28B536-B114-4818-A21E-2A1390FE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48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Resolution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C7AEBE-C9B9-4714-A103-0A865C0A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81375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λ · NA · k₁이 함께 정하며, DUV는 OPC와 multi-patterning으로 한계를 확장했다.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CEB77A-35EA-4E41-BBB6-42005824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71056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79DACC-3447-4623-B5EF-220720B9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24350"/>
            <a:ext cx="552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47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156900-0FCD-49E2-B093-3270C2C0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248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EUV Transition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834430-B235-46A0-923D-F10B1238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81525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13.5 nm의 흡수 특성이 vacuum · reflective mask · mirror optics를 요구했다.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F3E85E-F586-4F42-9E2C-502C8F37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71056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3"/>
          </a:solidFill>
          <a:ln xmlns:a="http://schemas.openxmlformats.org/drawingml/2006/main" w="9525">
            <a:solidFill>
              <a:srgbClr val="0A2A4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57A930-3818-4003-8AB1-5A6BFB8C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0"/>
            <a:ext cx="552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475" b="1">
                <a:solidFill>
                  <a:srgbClr val="5BD0E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5BD0E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DE994E-0749-4632-9144-FAEC3AB3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448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Platform Economics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4DFE15-C911-4183-91A6-B1768607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781675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D7E0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D7E0E8"/>
                </a:solidFill>
                <a:latin typeface="Apple SD Gothic Neo"/>
                <a:ea typeface="Apple SD Gothic Neo"/>
                <a:cs typeface="Apple SD Gothic Neo"/>
              </a:rPr>
              <a:t>Source · optics · PR · scanner가 resolution · defect · throughput · cost를 함께 만족해야 한다.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A346A2-FAF1-4944-BDAB-4A002BE2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10550" y="1714500"/>
            <a:ext cx="641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56A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DE27DE-EAC8-4767-A4C9-26D7AC53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0225"/>
            <a:ext cx="3980307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PRIMARY / OFFICIAL REFERENCES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AA9F3B-1283-48B3-A5E3-FE835170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1468" y="1800225"/>
            <a:ext cx="288893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1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58493"/>
                </a:solidFill>
                <a:latin typeface="Arial"/>
                <a:ea typeface="Arial"/>
                <a:cs typeface="Arial"/>
              </a:rPr>
              <a:t>SELECTED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B677C7-07C3-4E22-8CAA-799079EA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10550" y="2933700"/>
            <a:ext cx="641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85FDCB-FB54-4D22-9CB2-B4537E26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90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13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RESOLUTION / K₁ / OPC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9C7314-DF82-4566-8E8D-2C1F3892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190750"/>
            <a:ext cx="3924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ASML · Rayleigh criterion; Pushing k1 further; Computational lithography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D6A78D-2F25-4ECE-B8A1-E98C453D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10550" y="3867150"/>
            <a:ext cx="641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4B2158-9EA3-4FAA-B583-4950FC0E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24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13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DUV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D6CD70-2163-4BC6-A91C-E840CDCC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124200"/>
            <a:ext cx="3924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ASML · NXT:2000i / 2050i; Lenses &amp; mirrors; Light &amp; lasers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5215CC-A075-4313-8046-F10A3665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10550" y="4800600"/>
            <a:ext cx="641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47130E-2520-47FE-B9C0-A43CCE8D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57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13" b="1">
                <a:solidFill>
                  <a:srgbClr val="1456A0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1456A0"/>
                </a:solidFill>
                <a:latin typeface="Arial"/>
                <a:ea typeface="Arial"/>
                <a:cs typeface="Arial"/>
              </a:rPr>
              <a:t>EUV PLATFORMS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FD8165-C182-4C40-AF52-D5EC3DB1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057650"/>
            <a:ext cx="3924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ASML · NXE:3400C; EXE:5200B; 5 things about High-NA EUV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C7317F-9BDA-4A03-8BC7-532D970D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10550" y="5734050"/>
            <a:ext cx="641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744655-5509-43A6-B930-FBBBE07D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911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13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MO/SI MIRRORS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2C0E2C-3CB2-429C-BB18-EF322C4F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991100"/>
            <a:ext cx="3924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Spiller 1972, 1980; Underwood &amp; Barbee 1981; Montcalm 1998; Bajt 2001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EDC66F-98D8-4816-A639-BBF85797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10550" y="6667500"/>
            <a:ext cx="641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E8D7E9-3EC5-43C5-9930-2FBC0B88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9245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13" b="1">
                <a:solidFill>
                  <a:srgbClr val="16A9CF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16A9CF"/>
                </a:solidFill>
                <a:latin typeface="Arial"/>
                <a:ea typeface="Arial"/>
                <a:cs typeface="Arial"/>
              </a:rPr>
              <a:t>SOURCE / MASK / PATTERNING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FD6BF63-406D-45FD-9A56-CBD7813C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924550"/>
            <a:ext cx="3924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SPIE / JMM source papers; imec High-NA EUVL; imec SAQP integration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3CDA376-4275-4AFC-965A-79DE5175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7086600"/>
            <a:ext cx="6419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6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92F94F-6426-405E-8CC2-017DD71D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7277100"/>
            <a:ext cx="596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90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1456A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456A0"/>
                </a:solidFill>
                <a:latin typeface="Apple SD Gothic Neo"/>
                <a:ea typeface="Apple SD Gothic Neo"/>
                <a:cs typeface="Apple SD Gothic Neo"/>
              </a:rPr>
              <a:t>모든 수치·역사·specification은 각 슬라이드 speaker notes의 [Sources]에서 URL로 추적 가능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2FB8103-BE82-48D1-9C57-3AF851AD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80391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635064E-00FC-4D31-A2F5-9861FD22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1402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13" b="0">
                <a:solidFill>
                  <a:srgbClr val="758493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758493"/>
                </a:solidFill>
                <a:latin typeface="Arial"/>
                <a:ea typeface="Arial"/>
                <a:cs typeface="Arial"/>
              </a:rPr>
              <a:t>Reference · Full URLs are embedded in each slide's [Sources] speaker-note block</a:t>
            </a:r>
          </a:p>
        </p:txBody>
      </p:sp>
    </p:spTree>
    <p:extLst>
      <p:ext uri="{BB962C8B-B14F-4D97-AF65-F5344CB8AC3E}">
        <p14:creationId xmlns:p14="http://schemas.microsoft.com/office/powerpoint/2010/main" val="14634639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2026-08-09T01:28:39.3450000Z</dcterms:created>
  <dcterms:modified xsi:type="dcterms:W3CDTF">2026-08-09T01:28:39.3450000Z</dcterms:modified>
</coreProperties>
</file>